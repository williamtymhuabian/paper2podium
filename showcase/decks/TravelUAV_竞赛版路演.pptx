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 (%)</c:v>
                </c:pt>
              </c:strCache>
            </c:strRef>
          </c:tx>
          <c:spPr>
            <a:solidFill>
              <a:srgbClr val="2F80FF"/>
            </a:solidFill>
            <a:ln>
              <a:noFill/>
            </a:ln>
          </c:spPr>
          <c:dPt>
            <c:idx val="2"/>
            <c:spPr>
              <a:solidFill>
                <a:srgbClr val="FFC53D"/>
              </a:solidFill>
            </c:spPr>
          </c:dPt>
          <c:cat>
            <c:strRef>
              <c:f>Sheet1!$A$2:$A$4</c:f>
              <c:strCache>
                <c:ptCount val="3"/>
                <c:pt idx="0">
                  <c:v>CMA 基线</c:v>
                </c:pt>
                <c:pt idx="1">
                  <c:v>本项目</c:v>
                </c:pt>
                <c:pt idx="2">
                  <c:v>本项目+DA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8.37</c:v>
                </c:pt>
                <c:pt idx="1">
                  <c:v>16.1</c:v>
                </c:pt>
                <c:pt idx="2">
                  <c:v>17.45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5580"/>
            </a:solidFill>
          </a:ln>
        </c:spPr>
        <c:txPr>
          <a:bodyPr/>
          <a:lstStyle/>
          <a:p>
            <a:pPr>
              <a:defRPr sz="1300">
                <a:solidFill>
                  <a:srgbClr val="A8C3E8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3A5580"/>
            </a:solidFill>
          </a:ln>
        </c:spPr>
        <c:txPr>
          <a:bodyPr/>
          <a:lstStyle/>
          <a:p>
            <a:pPr>
              <a:defRPr sz="1300">
                <a:solidFill>
                  <a:srgbClr val="A8C3E8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尊敬的各位评委，大家好！我们是北航 ColaLab 团队，带来的项目是「天行 TravelUAV」——会听懂的无人机。封面就是平台实况：无人机在城市上空自主飞行，右上角是它的第一视角。项目已产出 12,149 条真实专家轨迹、6 自由度飞行动力学平台，核心指标超越基线 109%。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汇报六部分：市场痛点、产品方案、核心技术、商业模式、团队价值、发展规划——正好对应大赛评审的五个维度。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先看赛道。低空经济已写入政府工作报告：民航局预测 2025 年 1.5 万亿、2035 年 3.5 万亿；工信部数据，2025 年民用无人机整机产值 1761 亿、工业级占比超七成。但自动化是瓶颈——绝大多数作业仍依赖专业飞手。语言交互加自主搜索，就是无人机智能化的下一跳。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这个瓶颈有多痛？同一段指令下，人类飞手成功率 94.5%，固定动作程序只有 2.27%——41 倍的能力鸿沟。原因三点：听不懂、飞不真、学不会。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我们的产品是四位一体全栈方案：OpenUAV 仿真平台、12,149 条专家轨迹数据集、三级助导基准、导航大模型。左边就是产品实况——第三视角与机载第一视角同屏，全部自研、全部开源。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看一次真实演示：给一句话——目标在左前方、黄色轿车——它就理解指令、分层规划连续轨迹、检出目标即降落，端到端无人工规则。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环境适应性：22 类高保真场景覆盖城市到自然，动态光照、植被摆动，89 类物体运行时摆放，为 Sim-to-Real 打底。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技术架构：多模态大模型驱动的分层轨迹生成。指令与五视角图像编码进 Vicuna-7B 底座的 MLLM，查询 token 出远距目标位姿，前视细化解码器输出六自由度轨迹，全部自研可控。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三大创新：一，行业改坐标造假动力学，我们自研物理级飞控；二，行业只有静态描述，我们提出 L1 到 L3 三级助导基准；三，行业用离散分类器，我们用 MLLM 生成连续轨迹，SR 提升 109%。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成果四项落地：arXiv 论文、GitHub 开源、HuggingFace 数据、开放基准；知识产权两项申报中，路演版将附受理通知书。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市场三层：TAM 低空经济 1.5 万亿，SAM 民用无人机整机 1761 亿，SOM 自主导航软件与服务——我们测算窗口期 3 到 5 年。政策、技术、需求三浪叠加。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竞品矩阵一目了然：飞控套件、航线规划、学术方案各有短板，只有我们同时具备六自由度连续轨迹、语言交互、三级引导、开放生态与大模型驱动。定位：不做硬件，做无人机大脑的训练场加大脑。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三线收入：平台订阅面向高校院所，数据与评测面向 AI 企业，行业方案面向应急电网安防。右侧是数据飞轮：越多人用、数据越多、模型越强、方案越值钱。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师生共创：刘偲教授国家青年人才，廖裕渊研究员、李嘉胜教授来自 CUHK MMLab；六位核心学生完成平台、数据、模型三大模块，依托北航人工智能研究院。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社会价值四层：搜救黄金 72 小时提效、无人化巡检替代高危作业、催生新岗位、开源反哺教育。科技向善，服务国家低空战略。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三年三步：2024 全栈开源已达成；2025 社区扩数据、知产申报；2026 真机验证加首批试点；2027 订阅规模化、方案复制。近期目标：2026 年两个行业试点合同加真机演示。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我们的汇报到此结束。天行 TravelUAV，让无人机听懂人话。恳请各位评委专家批评指正，谢谢！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C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8D6FF"/>
                </a:solidFill>
                <a:latin typeface="微软雅黑"/>
              </a:rPr>
              <a:t>中国国际大学生创新大赛（高教主赛道）· 项目路演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天行 TravelUAV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E3EEFB"/>
                </a:solidFill>
                <a:latin typeface="微软雅黑"/>
              </a:rPr>
              <a:t>会听懂的无人机 · 真实世界视觉-语言导航平台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基于多模态大模型，让无人机听懂人类语言，在真实三维空域中自主搜索目标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4663440"/>
            <a:ext cx="2926080" cy="0"/>
          </a:xfrm>
          <a:prstGeom prst="line">
            <a:avLst/>
          </a:prstGeom>
          <a:ln w="25400">
            <a:solidFill>
              <a:srgbClr val="FFC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C53D"/>
                </a:solidFill>
                <a:latin typeface="微软雅黑"/>
              </a:rPr>
              <a:t>12,149 条真实专家轨迹　·　6-DoF 飞行动力学　·　SR 超基线 +109%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北京航空航天大学 ColaLab × 香港中文大学 MMLab　｜　指导教师：刘偲 教授 · 廖裕渊 研究员 · 李嘉胜 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汇报内容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5448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市场痛点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2024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万亿赛道 · 41 倍能力鸿沟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68296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000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产品方案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157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四位一体 + 实飞演示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1129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三大创新 · 成果落地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59352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41064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商业模式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068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TAM/SAM/SOM · 三线收入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3659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团队价值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023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师生共创 · 社会价值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5040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D6FF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53212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发展规划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897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C3E8"/>
                </a:solidFill>
                <a:latin typeface="微软雅黑"/>
              </a:rPr>
              <a:t>三年三步走</a:t>
            </a:r>
          </a:p>
        </p:txBody>
      </p:sp>
      <p:pic>
        <p:nvPicPr>
          <p:cNvPr id="28" name="Picture 27" descr="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34440"/>
            <a:ext cx="6108192" cy="4622851"/>
          </a:xfrm>
          <a:prstGeom prst="rect">
            <a:avLst/>
          </a:prstGeom>
          <a:ln w="12700">
            <a:solidFill>
              <a:srgbClr val="A8C3E8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577840" y="5948731"/>
            <a:ext cx="6108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8C3E8"/>
                </a:solidFill>
                <a:latin typeface="微软雅黑"/>
              </a:rPr>
              <a:t>OpenUAV 平台高保真城市场景库（22 类场景 · 89 类物体）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01 · 市场痛点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政策东风：低空经济成为国家战略性新兴产业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C53D"/>
                </a:solidFill>
                <a:latin typeface="Arial"/>
              </a:rPr>
              <a:t>1.5 万亿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2025E 低空经济规模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8C3E8"/>
                </a:solidFill>
                <a:latin typeface="微软雅黑"/>
              </a:rPr>
              <a:t>来源：中国民航局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78807" y="1709928"/>
            <a:ext cx="0" cy="146304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88536" y="1572768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8D6FF"/>
                </a:solidFill>
                <a:latin typeface="Arial"/>
              </a:rPr>
              <a:t>3.5 万亿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414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2035E 预期规模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2944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8C3E8"/>
                </a:solidFill>
                <a:latin typeface="微软雅黑"/>
              </a:rPr>
              <a:t>来源：中国民航局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64423" y="1709928"/>
            <a:ext cx="0" cy="146304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74152" y="1572768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8D6FF"/>
                </a:solidFill>
                <a:latin typeface="Arial"/>
              </a:rPr>
              <a:t>1761 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44144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2025 民用无人机整机产值 · 工业级占比 &gt;70%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94436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8C3E8"/>
                </a:solidFill>
                <a:latin typeface="微软雅黑"/>
              </a:rPr>
              <a:t>来源：工信部</a:t>
            </a:r>
          </a:p>
        </p:txBody>
      </p:sp>
      <p:pic>
        <p:nvPicPr>
          <p:cNvPr id="22" name="Picture 21" descr="market_str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11183112" cy="20099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53D"/>
                </a:solidFill>
                <a:latin typeface="微软雅黑"/>
              </a:rPr>
              <a:t>切入点：</a:t>
            </a:r>
            <a:r>
              <a:rPr sz="1500" b="0">
                <a:solidFill>
                  <a:srgbClr val="FFFFFF"/>
                </a:solidFill>
                <a:latin typeface="微软雅黑"/>
              </a:rPr>
              <a:t>无人机应用全面铺开，但自动化是瓶颈——「语言交互 + 自主搜索」是智能化的下一跳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数据来源：中国民航局（新华社 2025-12）、工信部 2025 民用无人机产值公报；图为 OpenUAV 平台城市场景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01 · 市场痛点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核心痛点：无人机「听不懂、飞不真、学不会」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417320"/>
            <a:ext cx="0" cy="484632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13716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8C3E8"/>
                </a:solidFill>
                <a:latin typeface="微软雅黑"/>
              </a:rPr>
              <a:t>同一段任务指令下的成功率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38D6FF"/>
                </a:solidFill>
                <a:latin typeface="Arial"/>
              </a:rPr>
              <a:t>94.5%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C3E8"/>
                </a:solidFill>
                <a:latin typeface="微软雅黑"/>
              </a:rPr>
              <a:t>人类飞手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C53D"/>
                </a:solidFill>
                <a:latin typeface="Arial"/>
              </a:rPr>
              <a:t>2.27%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782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C3E8"/>
                </a:solidFill>
                <a:latin typeface="微软雅黑"/>
              </a:rPr>
              <a:t>固定动作程序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53712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C53D">
              <a:alpha val="18000"/>
            </a:srgbClr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863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C53D"/>
                </a:solidFill>
                <a:latin typeface="微软雅黑"/>
              </a:rPr>
              <a:t>41 倍能力鸿沟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93792"/>
            <a:ext cx="5394960" cy="1261872"/>
          </a:xfrm>
          <a:prstGeom prst="roundRect">
            <a:avLst>
              <a:gd name="adj" fmla="val 5000"/>
            </a:avLst>
          </a:prstGeom>
          <a:solidFill>
            <a:srgbClr val="13294F">
              <a:alpha val="15000"/>
            </a:srgbClr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246120" y="5321808"/>
            <a:ext cx="0" cy="100584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4088" y="5303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C3E8"/>
                </a:solidFill>
                <a:latin typeface="微软雅黑"/>
              </a:rPr>
              <a:t>传统：离散动作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6144768"/>
            <a:ext cx="310896" cy="237744"/>
          </a:xfrm>
          <a:prstGeom prst="rect">
            <a:avLst/>
          </a:prstGeom>
          <a:solidFill>
            <a:srgbClr val="2F80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16152" y="6025896"/>
            <a:ext cx="310896" cy="237744"/>
          </a:xfrm>
          <a:prstGeom prst="rect">
            <a:avLst/>
          </a:prstGeom>
          <a:solidFill>
            <a:srgbClr val="2F80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73352" y="5907024"/>
            <a:ext cx="310896" cy="237744"/>
          </a:xfrm>
          <a:prstGeom prst="rect">
            <a:avLst/>
          </a:prstGeom>
          <a:solidFill>
            <a:srgbClr val="2F80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0552" y="5788152"/>
            <a:ext cx="310896" cy="237744"/>
          </a:xfrm>
          <a:prstGeom prst="rect">
            <a:avLst/>
          </a:prstGeom>
          <a:solidFill>
            <a:srgbClr val="2F80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87752" y="5669279"/>
            <a:ext cx="310896" cy="237744"/>
          </a:xfrm>
          <a:prstGeom prst="rect">
            <a:avLst/>
          </a:prstGeom>
          <a:solidFill>
            <a:srgbClr val="2F80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62636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C3E8"/>
                </a:solidFill>
                <a:latin typeface="微软雅黑"/>
              </a:rPr>
              <a:t>上下左右跳格 · 脱离真实飞行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5303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8D6FF"/>
                </a:solidFill>
                <a:latin typeface="微软雅黑"/>
              </a:rPr>
              <a:t>天行：6-DoF 连续轨迹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605042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84448" y="6171422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94176" y="6217904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03904" y="6174668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13631" y="605585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23359" y="5900327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33087" y="5758952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42816" y="5677970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52544" y="5683870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62272" y="5774720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0" y="5920806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81727" y="6074348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91456" y="618512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901183" y="621690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10912" y="6159294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20640" y="603113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30368" y="5874345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40096" y="5740206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49824" y="5672593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59552" y="5693618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69279" y="5796407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79008" y="5947338"/>
            <a:ext cx="82296" cy="8229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47288" y="6263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C3E8"/>
                </a:solidFill>
                <a:latin typeface="微软雅黑"/>
              </a:rPr>
              <a:t>俯仰·翻滚·偏航连续输出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1463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F80FF"/>
                </a:solidFill>
                <a:latin typeface="Arial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14813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听不懂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199339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语言指令无法直接驱动作业，依赖专业飞手遥控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9360" y="2834640"/>
            <a:ext cx="539496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56832" y="30906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F80FF"/>
                </a:solidFill>
                <a:latin typeface="Arial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5512" y="3108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飞不真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5512" y="3621024"/>
            <a:ext cx="4133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离散动作设定脱离真实 6-DoF 飞行动力学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09360" y="4462272"/>
            <a:ext cx="539496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004304" y="47183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F80FF"/>
                </a:solidFill>
                <a:latin typeface="Arial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72983" y="4736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学不会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72983" y="5248656"/>
            <a:ext cx="37856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行业没有真实轨迹数据，模型学不到专家经验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数据来源：arXiv:2410.07087, Table 2（UAV-Need-Help 基准）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02 · 产品方案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天行 TravelUAV：无人机自主导航全栈方案</a:t>
            </a:r>
          </a:p>
        </p:txBody>
      </p:sp>
      <p:pic>
        <p:nvPicPr>
          <p:cNvPr id="11" name="Picture 10" descr="head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1328"/>
            <a:ext cx="8549640" cy="412676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" y="1645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1F3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7145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平台实况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5544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仿真平台 OpenUAV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938528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8C3E8"/>
                </a:solidFill>
                <a:latin typeface="微软雅黑"/>
              </a:rPr>
              <a:t>22 场景 · 6-DoF 物理飞控 · 开源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400" y="2560320"/>
            <a:ext cx="278892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15400" y="27249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专家轨迹数据集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108960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8C3E8"/>
                </a:solidFill>
                <a:latin typeface="微软雅黑"/>
              </a:rPr>
              <a:t>12,149 条 · GPT-4 描述 · 人工复核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3730752"/>
            <a:ext cx="278892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15400" y="389534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助导任务基准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279392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8C3E8"/>
                </a:solidFill>
                <a:latin typeface="微软雅黑"/>
              </a:rPr>
              <a:t>L1/L2/L3 三级 · 模拟人机协作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15400" y="4901184"/>
            <a:ext cx="278892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15400" y="506577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导航大模型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449824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8C3E8"/>
                </a:solidFill>
                <a:latin typeface="微软雅黑"/>
              </a:rPr>
              <a:t>Vicuna-7B 底座 · 分层轨迹生成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623560"/>
            <a:ext cx="8549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C53D"/>
                </a:solidFill>
                <a:latin typeface="微软雅黑"/>
              </a:rPr>
              <a:t>四位一体、全部开源</a:t>
            </a:r>
            <a:r>
              <a:rPr sz="1450" b="0">
                <a:solidFill>
                  <a:srgbClr val="FFFFFF"/>
                </a:solidFill>
                <a:latin typeface="微软雅黑"/>
              </a:rPr>
              <a:t>：让研究者与行业直接复现、扩展、二次开发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02 · 产品方案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真实演示：听懂一段话，自主找到目标</a:t>
            </a:r>
          </a:p>
        </p:txBody>
      </p:sp>
      <p:pic>
        <p:nvPicPr>
          <p:cNvPr id="11" name="Picture 10" descr="demo_stri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1183112" cy="2060403"/>
          </a:xfrm>
          <a:prstGeom prst="rect">
            <a:avLst/>
          </a:prstGeom>
          <a:ln w="12700">
            <a:solidFill>
              <a:srgbClr val="A8C3E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3493008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8C3E8"/>
                </a:solidFill>
                <a:latin typeface="微软雅黑"/>
              </a:rPr>
              <a:t>OpenUAV 闭环仿真：12 帧连续飞行（成功案例：按指令搜索黄色车辆）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64008" cy="1051560"/>
          </a:xfrm>
          <a:prstGeom prst="rect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13632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输入指令（示例）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「目标在无人机左前方……画面中央有一辆黄色轿车，周边是多栋不同风格的多层建筑，请控制无人机找到它。」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913632"/>
            <a:ext cx="37947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C53D"/>
                </a:solidFill>
                <a:latin typeface="微软雅黑"/>
              </a:rPr>
              <a:t>端到端</a:t>
            </a:r>
            <a:r>
              <a:rPr sz="1300" b="0">
                <a:solidFill>
                  <a:srgbClr val="A8C3E8"/>
                </a:solidFill>
                <a:latin typeface="微软雅黑"/>
              </a:rPr>
              <a:t>：图像+语言直接到连续轨迹，无人工规则映射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25780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44068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1　理解指令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9253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MLLM 解析目标与环境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49039" y="5577840"/>
            <a:ext cx="320040" cy="274320"/>
          </a:xfrm>
          <a:prstGeom prst="rightArrow">
            <a:avLst/>
          </a:prstGeom>
          <a:solidFill>
            <a:srgbClr val="2F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544068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2　空中搜索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9253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分层规划 6-DoF 轨迹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98079" y="5577840"/>
            <a:ext cx="320040" cy="274320"/>
          </a:xfrm>
          <a:prstGeom prst="rightArrow">
            <a:avLst/>
          </a:prstGeom>
          <a:solidFill>
            <a:srgbClr val="2F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44068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3　精准降落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9253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检出目标即降落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演示画面来源：arXiv:2410.07087, Fig.4（OpenUAV 平台渲染）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02 · 产品方案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22 类高保真场景，覆盖城市到自然</a:t>
            </a:r>
          </a:p>
        </p:txBody>
      </p:sp>
      <p:pic>
        <p:nvPicPr>
          <p:cNvPr id="11" name="Picture 10" descr="scen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040"/>
            <a:ext cx="6720840" cy="378150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" y="16276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1F3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6962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城市场景</a:t>
            </a:r>
          </a:p>
        </p:txBody>
      </p:sp>
      <p:pic>
        <p:nvPicPr>
          <p:cNvPr id="14" name="Picture 13" descr="scene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463040"/>
            <a:ext cx="4736592" cy="26708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178040" y="16276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1F3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6962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自然地貌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224528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FC53D"/>
                </a:solidFill>
                <a:latin typeface="微软雅黑"/>
              </a:rPr>
              <a:t>高保真与动态性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UE4 渲染：动态光照、植被摆动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89 类物体资产，运行时 API 自动摆放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乡村 / 工业园区等全类型覆盖（附录 A）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• 为 Sim-to-Real 真机迁移打底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场景来源：OpenUAV 平台（论文附录 A，arXiv:2410.07087）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03 · 核心技术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技术架构：多模态大模型驱动的分层轨迹生成</a:t>
            </a:r>
          </a:p>
        </p:txBody>
      </p:sp>
      <p:pic>
        <p:nvPicPr>
          <p:cNvPr id="11" name="Picture 10" descr="metho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371600"/>
            <a:ext cx="11183112" cy="4296412"/>
          </a:xfrm>
          <a:prstGeom prst="rect">
            <a:avLst/>
          </a:prstGeom>
          <a:ln w="12700">
            <a:solidFill>
              <a:srgbClr val="A8C3E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5733288"/>
            <a:ext cx="11183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8C3E8"/>
                </a:solidFill>
                <a:latin typeface="微软雅黑"/>
              </a:rPr>
              <a:t>指令与五视角图像编码进 MLLM（Vicuna-7B）：waypoint 查询 token 预测远距目标位姿，前视细化解码器输出 6-DoF 精细轨迹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C53D"/>
                </a:solidFill>
                <a:latin typeface="微软雅黑"/>
              </a:rPr>
              <a:t>核心技术自研可控：分层解码 · 回溯采样 DAgger 训练 · Grounding DINO 精准降落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03 · 核心技术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三大创新点：从「飞不真」到「真实自主」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178308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8D6FF"/>
                </a:solidFill>
                <a:latin typeface="Arial"/>
              </a:rPr>
              <a:t>6-DoF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874519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2F80FF">
              <a:alpha val="28000"/>
            </a:srgbClr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997964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8D6FF"/>
                </a:solidFill>
                <a:latin typeface="Arial"/>
              </a:rPr>
              <a:t>P = {x, y, z, θ, φ, ψ}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8308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创新一 · 真实 6-DoF 仿真平台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行业改坐标造假动力学 → 自研 UE4+AirSim 物理级飞控，全状态记录，8×A100 并行 16× 加速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24612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474720"/>
            <a:ext cx="7589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创新二 · 三级助导任务基准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行业只有静态目标描述 → 自研 L1 全程引导 / L2 纠偏 / L3 避障，首个模拟真实人机协作的搜索基准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47472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8D6FF"/>
                </a:solidFill>
                <a:latin typeface="Arial"/>
              </a:rPr>
              <a:t>L1→L3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70832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F80FF">
              <a:alpha val="28000"/>
            </a:srgbClr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770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8D6FF"/>
                </a:solidFill>
                <a:latin typeface="微软雅黑"/>
              </a:rPr>
              <a:t>L1 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全程引导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0552" y="4370832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F80FF">
              <a:alpha val="28000"/>
            </a:srgbClr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0552" y="445770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8D6FF"/>
                </a:solidFill>
                <a:latin typeface="微软雅黑"/>
              </a:rPr>
              <a:t>L2 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困难纠偏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58184" y="4370832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F80FF">
              <a:alpha val="28000"/>
            </a:srgbClr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445770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8D6FF"/>
                </a:solidFill>
                <a:latin typeface="微软雅黑"/>
              </a:rPr>
              <a:t>L3 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仅避障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93776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5166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C53D"/>
                </a:solidFill>
                <a:latin typeface="Arial"/>
              </a:rPr>
              <a:t>+109%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5349240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FFC53D">
              <a:alpha val="18000"/>
            </a:srgbClr>
          </a:solidFill>
          <a:ln w="9525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5472684"/>
            <a:ext cx="2212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C53D"/>
                </a:solidFill>
                <a:latin typeface="Arial"/>
              </a:rPr>
              <a:t>SR 8.37 → 17.45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16636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创新三 · 分层导航大模型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行业用离散动作分类器 → MLLM 端到端生成连续轨迹，SR 翻倍（8.37 → 17.45）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对比数据来源：arXiv:2410.07087, Table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03 · 核心技术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阶段成果：论文、开源、数据、基准四项落地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1783080"/>
            <a:ext cx="9418320" cy="0"/>
          </a:xfrm>
          <a:prstGeom prst="line">
            <a:avLst/>
          </a:prstGeom>
          <a:ln w="19050">
            <a:solidFill>
              <a:srgbClr val="2F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64207" y="1709928"/>
            <a:ext cx="146304" cy="146304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19" y="1216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学术论文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" y="194767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53D"/>
                </a:solidFill>
                <a:latin typeface="微软雅黑"/>
              </a:rPr>
              <a:t>arXiv:2410.07087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" y="229514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A8C3E8"/>
                </a:solidFill>
                <a:latin typeface="微软雅黑"/>
              </a:rPr>
              <a:t>平台/基准/方法一体成文</a:t>
            </a:r>
          </a:p>
        </p:txBody>
      </p:sp>
      <p:sp>
        <p:nvSpPr>
          <p:cNvPr id="16" name="Oval 15"/>
          <p:cNvSpPr/>
          <p:nvPr/>
        </p:nvSpPr>
        <p:spPr>
          <a:xfrm>
            <a:off x="4407408" y="1709928"/>
            <a:ext cx="146304" cy="146304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216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开源代码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94767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53D"/>
                </a:solidFill>
                <a:latin typeface="微软雅黑"/>
              </a:rPr>
              <a:t>GitHub · buaa-colalab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29514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A8C3E8"/>
                </a:solidFill>
                <a:latin typeface="微软雅黑"/>
              </a:rPr>
              <a:t>训练与评测全流程</a:t>
            </a:r>
          </a:p>
        </p:txBody>
      </p:sp>
      <p:sp>
        <p:nvSpPr>
          <p:cNvPr id="20" name="Oval 19"/>
          <p:cNvSpPr/>
          <p:nvPr/>
        </p:nvSpPr>
        <p:spPr>
          <a:xfrm>
            <a:off x="7150608" y="1709928"/>
            <a:ext cx="146304" cy="146304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216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开放数据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94767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53D"/>
                </a:solidFill>
                <a:latin typeface="微软雅黑"/>
              </a:rPr>
              <a:t>HuggingFace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29514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A8C3E8"/>
                </a:solidFill>
                <a:latin typeface="微软雅黑"/>
              </a:rPr>
              <a:t>12,149 条可下载</a:t>
            </a:r>
          </a:p>
        </p:txBody>
      </p:sp>
      <p:sp>
        <p:nvSpPr>
          <p:cNvPr id="24" name="Oval 23"/>
          <p:cNvSpPr/>
          <p:nvPr/>
        </p:nvSpPr>
        <p:spPr>
          <a:xfrm>
            <a:off x="9893808" y="1709928"/>
            <a:ext cx="146304" cy="146304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12161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开放基准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94767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53D"/>
                </a:solidFill>
                <a:latin typeface="微软雅黑"/>
              </a:rPr>
              <a:t>UAV-Need-Help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29514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A8C3E8"/>
                </a:solidFill>
                <a:latin typeface="微软雅黑"/>
              </a:rPr>
              <a:t>三级助导评测协议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02920" y="3246120"/>
          <a:ext cx="594360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577900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A8C3E8"/>
                </a:solidFill>
                <a:latin typeface="微软雅黑"/>
              </a:rPr>
              <a:t>核心指标 SR（成功率）：较最强基线 +109%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291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知识产权规划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39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发明专利「无人机语言引导轨迹生成方法」申请中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软件著作权「OpenUAV 仿真平台」登记中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A8C3E8"/>
                </a:solidFill>
                <a:latin typeface="微软雅黑"/>
              </a:rPr>
              <a:t>• 数据集与基准以开源协议发布，形成社区壁垒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注：专利/软著为申报中材料，路演版将附受理通知书扫描件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04 · 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市场空间：从万亿低空经济到无人机智能化服务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6675120" cy="4572000"/>
          </a:xfrm>
          <a:prstGeom prst="roundRect">
            <a:avLst>
              <a:gd name="adj" fmla="val 4000"/>
            </a:avLst>
          </a:prstGeom>
          <a:solidFill>
            <a:srgbClr val="2F80FF">
              <a:alpha val="22000"/>
            </a:srgbClr>
          </a:solidFill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084831"/>
            <a:ext cx="5669280" cy="3383280"/>
          </a:xfrm>
          <a:prstGeom prst="roundRect">
            <a:avLst>
              <a:gd name="adj" fmla="val 4000"/>
            </a:avLst>
          </a:prstGeom>
          <a:solidFill>
            <a:srgbClr val="1F6FD0">
              <a:alpha val="45000"/>
            </a:srgbClr>
          </a:solidFill>
          <a:ln w="12700">
            <a:solidFill>
              <a:srgbClr val="1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2743200"/>
            <a:ext cx="4663440" cy="2194560"/>
          </a:xfrm>
          <a:prstGeom prst="roundRect">
            <a:avLst>
              <a:gd name="adj" fmla="val 4000"/>
            </a:avLst>
          </a:prstGeom>
          <a:solidFill>
            <a:srgbClr val="FFC53D">
              <a:alpha val="60000"/>
            </a:srgbClr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627632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</a:rPr>
              <a:t>TAM · 低空经济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29968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C3E8"/>
                </a:solidFill>
                <a:latin typeface="微软雅黑"/>
              </a:rPr>
              <a:t>1.5 万亿（2025E）→ 3.5 万亿（2035E）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249424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</a:rPr>
              <a:t>SAM · 民用无人机整机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65176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C3E8"/>
                </a:solidFill>
                <a:latin typeface="微软雅黑"/>
              </a:rPr>
              <a:t>1,761 亿（2025）· 工业级占比 &gt;70%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90779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1F3C"/>
                </a:solidFill>
                <a:latin typeface="微软雅黑"/>
              </a:rPr>
              <a:t>SOM · 自主导航软件与服务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31012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A1F3C"/>
                </a:solidFill>
                <a:latin typeface="微软雅黑"/>
              </a:rPr>
              <a:t>团队测算：窗口期 3–5 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52360" y="1463040"/>
            <a:ext cx="0" cy="457200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0" y="1463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C53D"/>
                </a:solidFill>
                <a:latin typeface="微软雅黑"/>
              </a:rPr>
              <a:t>为什么是现在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0116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8D6FF"/>
                </a:solidFill>
                <a:latin typeface="微软雅黑"/>
              </a:rPr>
              <a:t>政策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0116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3E8"/>
                </a:solidFill>
                <a:latin typeface="微软雅黑"/>
              </a:rPr>
              <a:t>低空经济写入政府工作报告，多地开放空域试点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971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8D6FF"/>
                </a:solidFill>
                <a:latin typeface="微软雅黑"/>
              </a:rPr>
              <a:t>技术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9718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3E8"/>
                </a:solidFill>
                <a:latin typeface="微软雅黑"/>
              </a:rPr>
              <a:t>多模态大模型爆发，语言→行动门槛被击穿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931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8D6FF"/>
                </a:solidFill>
                <a:latin typeface="微软雅黑"/>
              </a:rPr>
              <a:t>需求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931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3E8"/>
                </a:solidFill>
                <a:latin typeface="微软雅黑"/>
              </a:rPr>
              <a:t>巡检/搜救人力成本高，专业飞手缺口大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920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8D6FF"/>
                </a:solidFill>
                <a:latin typeface="微软雅黑"/>
              </a:rPr>
              <a:t>窗口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8920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3E8"/>
                </a:solidFill>
                <a:latin typeface="微软雅黑"/>
              </a:rPr>
              <a:t>学术标杆已立（本团队），产业化窗口 3–5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数据来源：中国民航局、工信部公开报告；SOM 为团队测算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04 · 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竞品对比：唯一「真实动力学 + 语言交互 + 开放生态」兼备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463040"/>
          <a:ext cx="111831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28800"/>
                <a:gridCol w="1828800"/>
                <a:gridCol w="2880360"/>
                <a:gridCol w="2404872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能力维度</a:t>
                      </a:r>
                    </a:p>
                  </a:txBody>
                  <a:tcPr marL="73152" marR="73152" anchor="ctr">
                    <a:solidFill>
                      <a:srgbClr val="2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传统飞控套件</a:t>
                      </a:r>
                    </a:p>
                  </a:txBody>
                  <a:tcPr marL="73152" marR="73152" anchor="ctr">
                    <a:solidFill>
                      <a:srgbClr val="2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航线规划软件</a:t>
                      </a:r>
                    </a:p>
                  </a:txBody>
                  <a:tcPr marL="73152" marR="73152" anchor="ctr">
                    <a:solidFill>
                      <a:srgbClr val="2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学术方案 AerialVLN/CityNav</a:t>
                      </a:r>
                    </a:p>
                  </a:txBody>
                  <a:tcPr marL="73152" marR="73152" anchor="ctr">
                    <a:solidFill>
                      <a:srgbClr val="2F8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天行 TravelUAV</a:t>
                      </a:r>
                    </a:p>
                  </a:txBody>
                  <a:tcPr marL="73152" marR="73152" anchor="ctr">
                    <a:solidFill>
                      <a:srgbClr val="2F80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连续 6-DoF 轨迹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遥控为主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航点插值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离散动作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C53D"/>
                          </a:solidFill>
                          <a:latin typeface="微软雅黑"/>
                        </a:rPr>
                        <a:t>✓ 物理级飞控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自然语言交互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仅航点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部分 简短指令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C53D"/>
                          </a:solidFill>
                          <a:latin typeface="微软雅黑"/>
                        </a:rPr>
                        <a:t>✓ 多视角+长指令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在线引导协作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C53D"/>
                          </a:solidFill>
                          <a:latin typeface="微软雅黑"/>
                        </a:rPr>
                        <a:t>✓ L1–L3 三级助导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数据与基准开放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闭源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闭源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部分 数据集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C53D"/>
                          </a:solidFill>
                          <a:latin typeface="微软雅黑"/>
                        </a:rPr>
                        <a:t>✓ 全开源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大模型驱动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✗ LSTM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C53D"/>
                          </a:solidFill>
                          <a:latin typeface="微软雅黑"/>
                        </a:rPr>
                        <a:t>✓ MLLM 端到端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综合能力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●○○○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●●○○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A8C3E8"/>
                          </a:solidFill>
                          <a:latin typeface="微软雅黑"/>
                        </a:rPr>
                        <a:t>●●○○</a:t>
                      </a:r>
                    </a:p>
                  </a:txBody>
                  <a:tcPr marL="73152" marR="73152" anchor="ctr">
                    <a:solidFill>
                      <a:srgbClr val="132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</a:rPr>
                        <a:t>●●●●</a:t>
                      </a:r>
                    </a:p>
                  </a:txBody>
                  <a:tcPr marL="73152" marR="73152" anchor="ctr">
                    <a:solidFill>
                      <a:srgbClr val="1B3A6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C53D"/>
                </a:solidFill>
                <a:latin typeface="微软雅黑"/>
              </a:rPr>
              <a:t>差异化定位：不做整机不做硬件，做无人机大脑的「训练场 + 大脑」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C3E8"/>
                </a:solidFill>
                <a:latin typeface="微软雅黑"/>
              </a:rPr>
              <a:t>竞品信息基于公开资料整理（各产品官网与论文，2024–2025）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04 · 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三线收入，先科研渗透、再行业落地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线一 · 平台订阅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8D6FF"/>
                </a:solidFill>
                <a:latin typeface="微软雅黑"/>
              </a:rPr>
              <a:t>客户：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高校与科研院所</a:t>
            </a:r>
            <a:r>
              <a:rPr sz="1250" b="1">
                <a:solidFill>
                  <a:srgbClr val="38D6FF"/>
                </a:solidFill>
                <a:latin typeface="微软雅黑"/>
              </a:rPr>
              <a:t>　｜　壁垒：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学术标杆引流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OpenUAV 订阅 + 技术支持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2734056"/>
            <a:ext cx="630936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990088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线二 · 数据与评测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4728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8D6FF"/>
                </a:solidFill>
                <a:latin typeface="微软雅黑"/>
              </a:rPr>
              <a:t>客户：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AI 企业与研究院</a:t>
            </a:r>
            <a:r>
              <a:rPr sz="1250" b="1">
                <a:solidFill>
                  <a:srgbClr val="38D6FF"/>
                </a:solidFill>
                <a:latin typeface="微软雅黑"/>
              </a:rPr>
              <a:t>　｜　壁垒：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独家 6-DoF 数据资产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3133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轨迹授权 · 评测服务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4215384"/>
            <a:ext cx="630936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4471416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53D"/>
                </a:solidFill>
                <a:latin typeface="微软雅黑"/>
              </a:rPr>
              <a:t>线三 · 行业方案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2861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8D6FF"/>
                </a:solidFill>
                <a:latin typeface="微软雅黑"/>
              </a:rPr>
              <a:t>客户：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应急 / 电网 / 安防</a:t>
            </a:r>
            <a:r>
              <a:rPr sz="1250" b="1">
                <a:solidFill>
                  <a:srgbClr val="38D6FF"/>
                </a:solidFill>
                <a:latin typeface="微软雅黑"/>
              </a:rPr>
              <a:t>　｜　壁垒：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搜救与巡检场景卡位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1266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联合解决方案按项目交付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5696712"/>
            <a:ext cx="630936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86600" y="1463040"/>
            <a:ext cx="0" cy="475488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92440" y="2423160"/>
            <a:ext cx="2743200" cy="2743200"/>
          </a:xfrm>
          <a:prstGeom prst="ellipse">
            <a:avLst/>
          </a:prstGeom>
          <a:noFill/>
          <a:ln w="1905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C53D"/>
                </a:solidFill>
                <a:latin typeface="微软雅黑"/>
              </a:rPr>
              <a:t>数据飞轮</a:t>
            </a:r>
          </a:p>
        </p:txBody>
      </p:sp>
      <p:sp>
        <p:nvSpPr>
          <p:cNvPr id="26" name="Oval 25"/>
          <p:cNvSpPr/>
          <p:nvPr/>
        </p:nvSpPr>
        <p:spPr>
          <a:xfrm>
            <a:off x="9400032" y="2359152"/>
            <a:ext cx="128016" cy="12801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85623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科研用户沉淀</a:t>
            </a:r>
          </a:p>
        </p:txBody>
      </p:sp>
      <p:sp>
        <p:nvSpPr>
          <p:cNvPr id="28" name="Oval 27"/>
          <p:cNvSpPr/>
          <p:nvPr/>
        </p:nvSpPr>
        <p:spPr>
          <a:xfrm>
            <a:off x="10771632" y="3730752"/>
            <a:ext cx="128016" cy="12801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36808" y="361188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社区数据反哺</a:t>
            </a:r>
          </a:p>
        </p:txBody>
      </p:sp>
      <p:sp>
        <p:nvSpPr>
          <p:cNvPr id="30" name="Oval 29"/>
          <p:cNvSpPr/>
          <p:nvPr/>
        </p:nvSpPr>
        <p:spPr>
          <a:xfrm>
            <a:off x="9400032" y="5102352"/>
            <a:ext cx="128016" cy="12801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527608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模型持续领先</a:t>
            </a:r>
          </a:p>
        </p:txBody>
      </p:sp>
      <p:sp>
        <p:nvSpPr>
          <p:cNvPr id="32" name="Oval 31"/>
          <p:cNvSpPr/>
          <p:nvPr/>
        </p:nvSpPr>
        <p:spPr>
          <a:xfrm>
            <a:off x="8028431" y="3730752"/>
            <a:ext cx="128016" cy="128016"/>
          </a:xfrm>
          <a:prstGeom prst="ellipse">
            <a:avLst/>
          </a:prstGeom>
          <a:solidFill>
            <a:srgbClr val="38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61188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行业方案溢价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53D"/>
                </a:solidFill>
                <a:latin typeface="微软雅黑"/>
              </a:rPr>
              <a:t>飞轮逻辑：越多人用 → 数据越多 → 模型越强 → 方案越值钱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05 · 团队价值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师生共创：北航 ColaLab × CUHK MMLab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508760"/>
            <a:ext cx="713232" cy="713232"/>
          </a:xfrm>
          <a:prstGeom prst="ellipse">
            <a:avLst/>
          </a:prstGeom>
          <a:solidFill>
            <a:srgbClr val="2F80FF">
              <a:alpha val="45000"/>
            </a:srgbClr>
          </a:solidFill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73352"/>
            <a:ext cx="713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904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刘偲 教授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01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8D6FF"/>
                </a:solidFill>
                <a:latin typeface="微软雅黑"/>
              </a:rPr>
              <a:t>北航人工智能研究院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国家青年人才 · 多模态智能</a:t>
            </a:r>
          </a:p>
        </p:txBody>
      </p:sp>
      <p:sp>
        <p:nvSpPr>
          <p:cNvPr id="16" name="Oval 15"/>
          <p:cNvSpPr/>
          <p:nvPr/>
        </p:nvSpPr>
        <p:spPr>
          <a:xfrm>
            <a:off x="4288536" y="1508760"/>
            <a:ext cx="713232" cy="713232"/>
          </a:xfrm>
          <a:prstGeom prst="ellipse">
            <a:avLst/>
          </a:prstGeom>
          <a:solidFill>
            <a:srgbClr val="2F80FF">
              <a:alpha val="45000"/>
            </a:srgbClr>
          </a:solidFill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673352"/>
            <a:ext cx="713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4904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廖裕渊 研究员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901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8D6FF"/>
                </a:solidFill>
                <a:latin typeface="微软雅黑"/>
              </a:rPr>
              <a:t>CUHK MMLab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视觉-语言导航新锐学者</a:t>
            </a:r>
          </a:p>
        </p:txBody>
      </p:sp>
      <p:sp>
        <p:nvSpPr>
          <p:cNvPr id="21" name="Oval 20"/>
          <p:cNvSpPr/>
          <p:nvPr/>
        </p:nvSpPr>
        <p:spPr>
          <a:xfrm>
            <a:off x="8074151" y="1508760"/>
            <a:ext cx="713232" cy="713232"/>
          </a:xfrm>
          <a:prstGeom prst="ellipse">
            <a:avLst/>
          </a:prstGeom>
          <a:solidFill>
            <a:srgbClr val="2F80FF">
              <a:alpha val="45000"/>
            </a:srgbClr>
          </a:solidFill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1" y="1673352"/>
            <a:ext cx="713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1" y="14904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李嘉胜 教授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1" y="1901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8D6FF"/>
                </a:solidFill>
                <a:latin typeface="微软雅黑"/>
              </a:rPr>
              <a:t>CUHK MMLab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1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C3E8"/>
                </a:solidFill>
                <a:latin typeface="微软雅黑"/>
              </a:rPr>
              <a:t>多模态大模型知名学者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283464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3017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8D6FF"/>
                </a:solidFill>
                <a:latin typeface="微软雅黑"/>
              </a:rPr>
              <a:t>核心学生成员（论文共同作者）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044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67588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王翔宇*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52044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67588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杨东林*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352044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67588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王子衿*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38912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445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关浩谦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438912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45445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陈锦玉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4389120"/>
            <a:ext cx="2240280" cy="65836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5445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吴文骏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2648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C3E8"/>
                </a:solidFill>
                <a:latin typeface="微软雅黑"/>
              </a:rPr>
              <a:t>* 共同一作（完成平台、数据与模型三大模块）　成员以论文署名为准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49640" y="3520440"/>
            <a:ext cx="3136392" cy="2103120"/>
          </a:xfrm>
          <a:prstGeom prst="roundRect">
            <a:avLst>
              <a:gd name="adj" fmla="val 5000"/>
            </a:avLst>
          </a:prstGeom>
          <a:solidFill>
            <a:srgbClr val="13294F"/>
          </a:solidFill>
          <a:ln w="9525">
            <a:solidFill>
              <a:srgbClr val="2F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3703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D6FF"/>
                </a:solidFill>
                <a:latin typeface="微软雅黑"/>
              </a:rPr>
              <a:t>依托单位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4133087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• 北航人工智能研究院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• CUHK MMLab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• 具身智能方向长期积累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5870448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38D6FF"/>
                </a:solidFill>
                <a:latin typeface="微软雅黑"/>
              </a:rPr>
              <a:t>9 名成员</a:t>
            </a:r>
            <a:r>
              <a:rPr sz="1450" b="0">
                <a:solidFill>
                  <a:srgbClr val="A8C3E8"/>
                </a:solidFill>
                <a:latin typeface="微软雅黑"/>
              </a:rPr>
              <a:t>　·　</a:t>
            </a:r>
            <a:r>
              <a:rPr sz="1450" b="1">
                <a:solidFill>
                  <a:srgbClr val="38D6FF"/>
                </a:solidFill>
                <a:latin typeface="微软雅黑"/>
              </a:rPr>
              <a:t>2 所顶尖高校</a:t>
            </a:r>
            <a:r>
              <a:rPr sz="1450" b="0">
                <a:solidFill>
                  <a:srgbClr val="A8C3E8"/>
                </a:solidFill>
                <a:latin typeface="微软雅黑"/>
              </a:rPr>
              <a:t>　·　</a:t>
            </a:r>
            <a:r>
              <a:rPr sz="1450" b="1">
                <a:solidFill>
                  <a:srgbClr val="38D6FF"/>
                </a:solidFill>
                <a:latin typeface="微软雅黑"/>
              </a:rPr>
              <a:t>1 篇 arXiv 论文</a:t>
            </a:r>
            <a:r>
              <a:rPr sz="1450" b="0">
                <a:solidFill>
                  <a:srgbClr val="A8C3E8"/>
                </a:solidFill>
                <a:latin typeface="微软雅黑"/>
              </a:rPr>
              <a:t>　·　</a:t>
            </a:r>
            <a:r>
              <a:rPr sz="1450" b="1">
                <a:solidFill>
                  <a:srgbClr val="38D6FF"/>
                </a:solidFill>
                <a:latin typeface="微软雅黑"/>
              </a:rPr>
              <a:t>4 项开源产出</a:t>
            </a:r>
            <a:r>
              <a:rPr sz="1450" b="0">
                <a:solidFill>
                  <a:srgbClr val="A8C3E8"/>
                </a:solidFill>
                <a:latin typeface="微软雅黑"/>
              </a:rPr>
              <a:t>　·　</a:t>
            </a:r>
            <a:r>
              <a:rPr sz="1450" b="1">
                <a:solidFill>
                  <a:srgbClr val="38D6FF"/>
                </a:solidFill>
                <a:latin typeface="微软雅黑"/>
              </a:rPr>
              <a:t>师生比 1:3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05 · 团队价值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社会价值：更高效的搜救、更安全的巡检、更高质量的就业</a:t>
            </a:r>
          </a:p>
        </p:txBody>
      </p:sp>
      <p:pic>
        <p:nvPicPr>
          <p:cNvPr id="11" name="Picture 10" descr="scen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971800" cy="299798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664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1F3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327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应急搜救</a:t>
            </a:r>
          </a:p>
        </p:txBody>
      </p:sp>
      <p:pic>
        <p:nvPicPr>
          <p:cNvPr id="14" name="Picture 13" descr="scene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10128"/>
            <a:ext cx="2971800" cy="300452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" y="346557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1F3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341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电力巡检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1508760"/>
            <a:ext cx="0" cy="448056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43400" y="1554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应急救援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72768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按描述搜索失踪人员，黄金 72 小时内提升覆盖效率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43400" y="2468879"/>
            <a:ext cx="731520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43400" y="2670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公共安全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88336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无人化巡检替代高危人工作业，降低伤亡风险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43400" y="3584447"/>
            <a:ext cx="731520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43400" y="3785615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带动就业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0390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催生语义标注、航线运营、无人机训练师等新岗位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43400" y="4700016"/>
            <a:ext cx="7315200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43400" y="49011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FFC53D"/>
                </a:solidFill>
                <a:latin typeface="微软雅黑"/>
              </a:rPr>
              <a:t>教育价值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19471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8C3E8"/>
                </a:solidFill>
                <a:latin typeface="微软雅黑"/>
              </a:rPr>
              <a:t>全栈开源反哺教学，学生完成论文到产品的完整闭环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C53D"/>
                </a:solidFill>
                <a:latin typeface="微软雅黑"/>
              </a:rPr>
              <a:t>科技向善 · 服务国家低空战略</a:t>
            </a:r>
            <a:r>
              <a:rPr sz="1050" b="0">
                <a:solidFill>
                  <a:srgbClr val="A8C3E8"/>
                </a:solidFill>
                <a:latin typeface="微软雅黑"/>
              </a:rPr>
              <a:t>　（场景图为 OpenUAV 渲染，实际部署以真机联合测试为准）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blu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3352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3784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4648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A8C3E8"/>
                </a:solidFill>
                <a:latin typeface="微软雅黑"/>
              </a:rPr>
              <a:t>团队价值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"/>
            <a:ext cx="1051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微软雅黑"/>
              </a:rPr>
              <a:t>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D6FF"/>
                </a:solidFill>
                <a:latin typeface="微软雅黑"/>
              </a:rPr>
              <a:t>06 · 发展规划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</a:rPr>
              <a:t>三年三步：开源生态 → 真机验证 → 规模落地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246120"/>
            <a:ext cx="11183112" cy="0"/>
          </a:xfrm>
          <a:prstGeom prst="line">
            <a:avLst/>
          </a:prstGeom>
          <a:ln w="25400">
            <a:solidFill>
              <a:srgbClr val="2F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97863" y="3163824"/>
            <a:ext cx="164592" cy="164592"/>
          </a:xfrm>
          <a:prstGeom prst="ellipse">
            <a:avLst/>
          </a:prstGeom>
          <a:solidFill>
            <a:srgbClr val="38D6FF"/>
          </a:solidFill>
          <a:ln w="19050">
            <a:solidFill>
              <a:srgbClr val="38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" y="24963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8D6FF"/>
                </a:solidFill>
                <a:latin typeface="Arial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" y="35204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45720" y="4023359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全栈开源 + arXiv 论文</a:t>
            </a:r>
          </a:p>
        </p:txBody>
      </p:sp>
      <p:sp>
        <p:nvSpPr>
          <p:cNvPr id="16" name="Oval 15"/>
          <p:cNvSpPr/>
          <p:nvPr/>
        </p:nvSpPr>
        <p:spPr>
          <a:xfrm>
            <a:off x="3959352" y="3163824"/>
            <a:ext cx="164592" cy="164592"/>
          </a:xfrm>
          <a:prstGeom prst="ellipse">
            <a:avLst/>
          </a:prstGeom>
          <a:solidFill>
            <a:srgbClr val="38D6FF"/>
          </a:solidFill>
          <a:ln w="19050">
            <a:solidFill>
              <a:srgbClr val="38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24963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8D6FF"/>
                </a:solidFill>
                <a:latin typeface="Arial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5204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进行中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4023359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社区共建扩数据 · 知产申报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3163824"/>
            <a:ext cx="164592" cy="164592"/>
          </a:xfrm>
          <a:prstGeom prst="ellipse">
            <a:avLst/>
          </a:prstGeom>
          <a:solidFill>
            <a:srgbClr val="13294F"/>
          </a:solidFill>
          <a:ln w="19050">
            <a:solidFill>
              <a:srgbClr val="38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24963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A8C3E8"/>
                </a:solidFill>
                <a:latin typeface="Arial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5204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C53D"/>
                </a:solidFill>
                <a:latin typeface="微软雅黑"/>
              </a:rPr>
              <a:t>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4023359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Sim-to-Real 真机验证
首批应急/电网试点</a:t>
            </a:r>
          </a:p>
        </p:txBody>
      </p:sp>
      <p:sp>
        <p:nvSpPr>
          <p:cNvPr id="24" name="Oval 23"/>
          <p:cNvSpPr/>
          <p:nvPr/>
        </p:nvSpPr>
        <p:spPr>
          <a:xfrm>
            <a:off x="9482328" y="3163824"/>
            <a:ext cx="164592" cy="164592"/>
          </a:xfrm>
          <a:prstGeom prst="ellipse">
            <a:avLst/>
          </a:prstGeom>
          <a:solidFill>
            <a:srgbClr val="13294F"/>
          </a:solidFill>
          <a:ln w="19050">
            <a:solidFill>
              <a:srgbClr val="38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24963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A8C3E8"/>
                </a:solidFill>
                <a:latin typeface="Arial"/>
              </a:rPr>
              <a:t>2027+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5204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C53D"/>
                </a:solidFill>
                <a:latin typeface="微软雅黑"/>
              </a:rPr>
              <a:t>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4023359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A8C3E8"/>
                </a:solidFill>
                <a:latin typeface="微软雅黑"/>
              </a:rPr>
              <a:t>平台订阅规模化
行业方案复制推广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5486400"/>
            <a:ext cx="11183112" cy="0"/>
          </a:xfrm>
          <a:prstGeom prst="line">
            <a:avLst/>
          </a:prstGeom>
          <a:ln w="9525">
            <a:solidFill>
              <a:srgbClr val="3A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61441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53D"/>
                </a:solidFill>
                <a:latin typeface="微软雅黑"/>
              </a:rPr>
              <a:t>近期目标：</a:t>
            </a:r>
            <a:r>
              <a:rPr sz="1500" b="0">
                <a:solidFill>
                  <a:srgbClr val="FFFFFF"/>
                </a:solidFill>
                <a:latin typeface="微软雅黑"/>
              </a:rPr>
              <a:t>2026 年完成 2 个行业试点合同 + 真机演示；中长期成为低空经济「无人机大脑」事实标准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081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8D6FF"/>
                </a:solidFill>
                <a:latin typeface="微软雅黑"/>
              </a:rPr>
              <a:t>风险预案：</a:t>
            </a:r>
            <a:r>
              <a:rPr sz="1250" b="0">
                <a:solidFill>
                  <a:srgbClr val="A8C3E8"/>
                </a:solidFill>
                <a:latin typeface="微软雅黑"/>
              </a:rPr>
              <a:t>真机迁移 → 分阶段 Sim-to-Real 验证；市场节奏 → 先科研渗透、再行业复制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C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/>
              </a:rPr>
              <a:t>恳请各位评委专家批评指正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微软雅黑"/>
              </a:rPr>
              <a:t>天行 TravelUAV · 让无人机听懂人话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69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8D6FF"/>
                </a:solidFill>
                <a:latin typeface="微软雅黑"/>
              </a:rPr>
              <a:t>汇 报 完 毕 · 感 谢 聆 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8C3E8"/>
                </a:solidFill>
                <a:latin typeface="微软雅黑"/>
              </a:rPr>
              <a:t>数据与图表引自 arXiv:2410.07087 及民航局、工信部公开报告；专利/软著申报中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