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="1"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【画面字幕】让无人机听懂人话，自己找到目标。</a:t>
            </a:r>
          </a:p>
          <a:p>
            <a:r>
              <a:t>【30 秒口播】我们是 TravelUAV，做的是让无人机理解自然语言、在真实场景里自主完成目标搜索。这套能力建立在 OpenUAV 仿真平台、12k 条真实动力学轨迹和 UAV-Need-Help 评测基准之上。今天在 B-17 展位有实时演示，扫码可以预约 30 分钟的场景评估。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【画面字幕】无人机已经会飞，下一步是听懂一句话，自己完成一次搜索。</a:t>
            </a:r>
          </a:p>
          <a:p>
            <a:r>
              <a:t>【30 秒口播】过去的无人机自动化，本质还是人把任务拆成航点。我们想往前一步：操作者只说“找什么”，飞机自己理解目标、生成可行轨迹、边飞边确认。三个支点是语言理解、真实动力学和泛化能力。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【画面字幕】换一个场景，飞手要重新教一遍。</a:t>
            </a:r>
          </a:p>
          <a:p>
            <a:r>
              <a:t>【30 秒口播】今天部署一套无人机搜索能力，最大的成本不在飞，而在把任务翻译成航点、把场景重新采集标注。仿真里训练的模型，到了实机和新场景又容易失效。这就是我们要解决的三件事。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【画面字幕】一句话下达任务，全自主完成搜索。</a:t>
            </a:r>
          </a:p>
          <a:p>
            <a:r>
              <a:t>【30 秒口播】这是产品最核心的一页：操作者只需要用一句话描述目标，比如“前方右侧、穿棕色外套的人，泳池边”。系统自己理解空间关系、生成 6 自由度轨迹，飞行过程中持续复核目标，不确定就回看。人不再需要拆航点。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【画面字幕】听懂、规划、找到，一次闭环。</a:t>
            </a:r>
          </a:p>
          <a:p>
            <a:r>
              <a:t>【30 秒口播】第一步听懂，目标描述里的颜色、方位、参照物都会被解析；第二步生成 6 自由度轨迹，而不是离散动作；第三步边飞边复核，目标不确定就回看。下面这条序列是同一任务在仿真里的执行过程。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【画面字幕】相同评测条件下，成功率约为基线的 2.1 倍。</a:t>
            </a:r>
          </a:p>
          <a:p>
            <a:r>
              <a:t>【30 秒口播】这是论文 Table 2 的 Test Seen、L1 助手结果：CMA 基线成功率 8.37%，我们的方法 17.45%，约 2.1 倍；OSR 48.87%，SPL 15.76。需要说明，这是仿真评测结果，不是实机承诺；实机还要考虑空域、风和现场条件。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【画面字幕】从城市街区，到没有地图的地方。</a:t>
            </a:r>
          </a:p>
          <a:p>
            <a:r>
              <a:t>【30 秒口播】同一套能力可以放进三类场景：城市街区的目标搜索、山地林区的巡护、灾后区域的排查。共同点是路网不完整、目标不确定、环境变化快，正好是传统航点方案最吃力的地方。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【画面字幕】三种合作方式，从评估到落地。</a:t>
            </a:r>
          </a:p>
          <a:p>
            <a:r>
              <a:t>【30 秒口播】如果你们在做无人机自主导航，可以从平台授权开始；如果已经有模型，想验证泛化能力，我们做基准评测；如果有一个明确场景，就做 2 到 6 周的联合试点。都从一次 30 分钟的场景评估开始。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【画面字幕】不是演示视频，是可复现的研究底座。</a:t>
            </a:r>
          </a:p>
          <a:p>
            <a:r>
              <a:t>【30 秒口播】支撑这套能力的不是一段剪辑，而是三样可验证的东西：12k 条真实动力学轨迹、6 自由度连续动作空间、以及包含未见地图和未见物体的四个评测子集。平台、数据、基准都在论文里公开，采购前可以独立复现。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【画面字幕】把您的场景，交给它试一次。</a:t>
            </a:r>
          </a:p>
          <a:p>
            <a:r>
              <a:t>【30 秒口播】下一步很简单：扫码预约一个 30 分钟的场景评估，带一段现场视频或一张地图，我们两周内给一次联合试点，输出可量化的搜索成功率对比。展位 B-17，今天全天都在。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penUAV 仿真城市街区俯瞰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im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450">
                <a:solidFill>
                  <a:srgbClr val="F4F1EA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658368"/>
            <a:ext cx="1005840" cy="0"/>
          </a:xfrm>
          <a:prstGeom prst="line">
            <a:avLst/>
          </a:prstGeom>
          <a:ln w="952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16975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300">
                <a:solidFill>
                  <a:srgbClr val="A8A399"/>
                </a:solidFill>
                <a:latin typeface="Arial"/>
                <a:ea typeface="Arial"/>
                <a:cs typeface="Arial"/>
              </a:rPr>
              <a:t>SHANGHAI  · 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212848"/>
            <a:ext cx="548640" cy="0"/>
          </a:xfrm>
          <a:prstGeom prst="line">
            <a:avLst/>
          </a:prstGeom>
          <a:ln w="31750">
            <a:solidFill>
              <a:srgbClr val="C96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95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320">
                <a:solidFill>
                  <a:srgbClr val="C96A3F"/>
                </a:solidFill>
                <a:latin typeface="Arial"/>
                <a:ea typeface="Arial"/>
                <a:cs typeface="Arial"/>
              </a:rPr>
              <a:t>EMBODIED AERIAL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7680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5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让无人机听懂人话，</a:t>
            </a:r>
          </a:p>
          <a:p>
            <a:pPr algn="l">
              <a:lnSpc>
                <a:spcPct val="112000"/>
              </a:lnSpc>
            </a:pPr>
            <a:r>
              <a:rPr sz="55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自己找到目标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3659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面向真实场景的具身导航平台  ·  OpenUAV 仿真  ·  12k 轨迹数据集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650992"/>
            <a:ext cx="6858000" cy="0"/>
          </a:xfrm>
          <a:prstGeom prst="line">
            <a:avLst/>
          </a:prstGeom>
          <a:ln w="952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7790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2026 世界无人机大会  ·  上海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7790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展位 B-17  ·  9.2–9.5 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76688" y="4462272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r_d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272" y="4562856"/>
            <a:ext cx="1170432" cy="11704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30384" y="591616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扫码预约现场演示</a:t>
            </a:r>
          </a:p>
        </p:txBody>
      </p:sp>
    </p:spTree>
  </p:cSld>
  <p:clrMapOvr>
    <a:masterClrMapping/>
  </p:clrMapOvr>
  <p:transition spd="med" advTm="10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01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WHY WE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1572768"/>
            <a:ext cx="548640" cy="0"/>
          </a:xfrm>
          <a:prstGeom prst="line">
            <a:avLst/>
          </a:prstGeom>
          <a:ln w="31750">
            <a:solidFill>
              <a:srgbClr val="C96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1783080"/>
            <a:ext cx="10607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4300" b="1">
                <a:solidFill>
                  <a:srgbClr val="A8A399"/>
                </a:solidFill>
                <a:latin typeface="Noto Serif CJK SC"/>
                <a:ea typeface="Noto Serif CJK SC"/>
                <a:cs typeface="Noto Serif CJK SC"/>
              </a:rPr>
              <a:t>无人机已经会飞。</a:t>
            </a:r>
          </a:p>
          <a:p>
            <a:pPr algn="l">
              <a:lnSpc>
                <a:spcPct val="128000"/>
              </a:lnSpc>
            </a:pPr>
            <a:r>
              <a:rPr sz="4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下一步，是</a:t>
            </a:r>
            <a:r>
              <a:rPr sz="4300" b="1">
                <a:solidFill>
                  <a:srgbClr val="C96A3F"/>
                </a:solidFill>
                <a:latin typeface="Noto Serif CJK SC"/>
                <a:ea typeface="Noto Serif CJK SC"/>
                <a:cs typeface="Noto Serif CJK SC"/>
              </a:rPr>
              <a:t>听懂一句话</a:t>
            </a:r>
            <a:r>
              <a:rPr sz="4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，</a:t>
            </a:r>
          </a:p>
          <a:p>
            <a:pPr algn="l">
              <a:lnSpc>
                <a:spcPct val="128000"/>
              </a:lnSpc>
            </a:pPr>
            <a:r>
              <a:rPr sz="4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自己完成一次搜索。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04748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285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自然语言指令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14416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目标描述与空间关系，直接说给飞机听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285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真实飞行动力学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614416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6 DoF 连续控制，不是简化后的航点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285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零样本泛化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614416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换地图、换目标，仍然能起飞去找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5257800"/>
            <a:ext cx="0" cy="86868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5257800"/>
            <a:ext cx="0" cy="86868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Tm="8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02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170432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换一个场景，</a:t>
            </a:r>
          </a:p>
          <a:p>
            <a:pPr algn="l">
              <a:lnSpc>
                <a:spcPct val="115000"/>
              </a:lnSpc>
            </a:pPr>
            <a:r>
              <a:rPr sz="3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飞手要重新教一遍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指令仍是坐标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任务以航点下发，操作者要先把“找什么”翻译成“怎么飞”。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12463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7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仿真不够真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34255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简化动力学让策略在仿真里成立，一上实机就漂移。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8289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换场景就重来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0468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新地图、新目标、新光照，都要重新采集与标注。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602736"/>
            <a:ext cx="5257800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" y="4773168"/>
            <a:ext cx="5257800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OpenUAV 运河街区仿真场景"/>
          <p:cNvPicPr>
            <a:picLocks noChangeAspect="1"/>
          </p:cNvPicPr>
          <p:nvPr/>
        </p:nvPicPr>
        <p:blipFill>
          <a:blip r:embed="rId3"/>
          <a:srcRect t="318" b="318"/>
          <a:stretch>
            <a:fillRect/>
          </a:stretch>
        </p:blipFill>
        <p:spPr>
          <a:xfrm>
            <a:off x="6446520" y="1078992"/>
            <a:ext cx="5742432" cy="5047488"/>
          </a:xfrm>
          <a:prstGeom prst="rect">
            <a:avLst/>
          </a:prstGeom>
          <a:ln w="9525">
            <a:solidFill>
              <a:srgbClr val="3A3B36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6446520" y="1078992"/>
            <a:ext cx="5742432" cy="5047488"/>
          </a:xfrm>
          <a:prstGeom prst="rect">
            <a:avLst/>
          </a:prstGeom>
          <a:solidFill>
            <a:srgbClr val="0E111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6163056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OpenUAV 仿真场景 · 运河街区  |  真实世界的长尾，远超固定航线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penUAV 仿真城市高楼区俯瞰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im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450">
                <a:solidFill>
                  <a:srgbClr val="F4F1EA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6975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04  / 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735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320">
                <a:solidFill>
                  <a:srgbClr val="C96A3F"/>
                </a:solidFill>
                <a:latin typeface="Arial"/>
                <a:ea typeface="Arial"/>
                <a:cs typeface="Arial"/>
              </a:rPr>
              <a:t>ONE INSTRUCTION. ONE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47872"/>
            <a:ext cx="8412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一句话下达任务，</a:t>
            </a:r>
          </a:p>
          <a:p>
            <a:pPr algn="l">
              <a:lnSpc>
                <a:spcPct val="114000"/>
              </a:lnSpc>
            </a:pPr>
            <a:r>
              <a:rPr sz="4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全自主完成搜索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4807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目标描述、空间关系、途中复核，都在一次任务里完成。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760720"/>
            <a:ext cx="10607040" cy="0"/>
          </a:xfrm>
          <a:prstGeom prst="line">
            <a:avLst/>
          </a:prstGeom>
          <a:ln w="952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907024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A8A399"/>
                </a:solidFill>
                <a:latin typeface="Arial"/>
                <a:ea typeface="Arial"/>
                <a:cs typeface="Arial"/>
              </a:rPr>
              <a:t>自然语言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听懂“找什么”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5907024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A8A399"/>
                </a:solidFill>
                <a:latin typeface="Arial"/>
                <a:ea typeface="Arial"/>
                <a:cs typeface="Arial"/>
              </a:rPr>
              <a:t>6 DoF 轨迹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12648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贴近真实飞行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907024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A8A399"/>
                </a:solidFill>
                <a:latin typeface="Arial"/>
                <a:ea typeface="Arial"/>
                <a:cs typeface="Arial"/>
              </a:rPr>
              <a:t>在线复核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12648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不确定就回看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03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1704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C96A3F"/>
                </a:solidFill>
                <a:latin typeface="Noto Serif CJK SC"/>
                <a:ea typeface="Noto Serif CJK SC"/>
                <a:cs typeface="Noto Serif CJK SC"/>
              </a:rPr>
              <a:t>听懂</a:t>
            </a:r>
            <a:r>
              <a:rPr sz="3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  →  规划  →  找到，一次闭环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听懂意图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多模态模型解析目标描述、空间关系与场景线索，形成可执行的任务意图。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38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128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生成轨迹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在 6 DoF 连续动作空间里生成可行轨迹，贴合真实飞行约束与障碍。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938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2128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边飞边找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974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在线复核目标；不确定就回看，而不是一条航线飞到底。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1901952"/>
            <a:ext cx="0" cy="178308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2400" y="1901952"/>
            <a:ext cx="0" cy="178308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39684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同一任务的城市街区执行序列  ·  OpenUAV 仿真</a:t>
            </a:r>
          </a:p>
        </p:txBody>
      </p:sp>
      <p:pic>
        <p:nvPicPr>
          <p:cNvPr id="22" name="Picture 21" descr="同一任务的城市街区执行序列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10716768" cy="1975104"/>
          </a:xfrm>
          <a:prstGeom prst="rect">
            <a:avLst/>
          </a:prstGeom>
          <a:ln w="9525">
            <a:solidFill>
              <a:srgbClr val="3A3B36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731520" y="4242816"/>
            <a:ext cx="10716768" cy="1975104"/>
          </a:xfrm>
          <a:prstGeom prst="rect">
            <a:avLst/>
          </a:prstGeom>
          <a:solidFill>
            <a:srgbClr val="0E111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04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170432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相同评测条件下，</a:t>
            </a:r>
          </a:p>
          <a:p>
            <a:pPr algn="l">
              <a:lnSpc>
                <a:spcPct val="116000"/>
              </a:lnSpc>
            </a:pPr>
            <a:r>
              <a:rPr sz="3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成功率约为基线的 2.1 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CMA 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62656"/>
            <a:ext cx="5669280" cy="329184"/>
          </a:xfrm>
          <a:prstGeom prst="rect">
            <a:avLst/>
          </a:prstGeom>
          <a:solidFill>
            <a:srgbClr val="1A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62656"/>
            <a:ext cx="2719305" cy="329184"/>
          </a:xfrm>
          <a:prstGeom prst="rect">
            <a:avLst/>
          </a:prstGeom>
          <a:solidFill>
            <a:srgbClr val="6F6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95351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8A399"/>
                </a:solidFill>
                <a:latin typeface="Arial"/>
                <a:ea typeface="Arial"/>
                <a:cs typeface="Arial"/>
              </a:rPr>
              <a:t>8.37%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02736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TravelUAV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95344"/>
            <a:ext cx="5669280" cy="329184"/>
          </a:xfrm>
          <a:prstGeom prst="rect">
            <a:avLst/>
          </a:prstGeom>
          <a:solidFill>
            <a:srgbClr val="1A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95344"/>
            <a:ext cx="5669280" cy="329184"/>
          </a:xfrm>
          <a:prstGeom prst="rect">
            <a:avLst/>
          </a:prstGeom>
          <a:solidFill>
            <a:srgbClr val="C96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88620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96A3F"/>
                </a:solidFill>
                <a:latin typeface="Arial"/>
                <a:ea typeface="Arial"/>
                <a:cs typeface="Arial"/>
              </a:rPr>
              <a:t>17.45%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4398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SR（成功率）  ·  Test Seen  ·  L1 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76272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C96A3F"/>
                </a:solidFill>
                <a:latin typeface="Arial"/>
                <a:ea typeface="Arial"/>
                <a:cs typeface="Arial"/>
              </a:rPr>
              <a:t>2.1×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16382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相对 CMA 基线的成功率提升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3529584"/>
            <a:ext cx="3977640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0" y="3712463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48.87%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22452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A8A399"/>
                </a:solidFill>
                <a:latin typeface="Arial"/>
                <a:ea typeface="Arial"/>
                <a:cs typeface="Arial"/>
              </a:rPr>
              <a:t>OSR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12463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15.76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2452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A8A399"/>
                </a:solidFill>
                <a:latin typeface="Arial"/>
                <a:ea typeface="Arial"/>
                <a:cs typeface="Arial"/>
              </a:rPr>
              <a:t>SPL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7900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来源：TravelUAV, 2025（预印本）· Table 2 · Test Seen · L1 · Ours-DA 17.45% vs CMA 8.37%。OSR/SPL 同表。飞行任务仍受空域法规与现场条件约束。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05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WHERE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1704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从城市街区，到没有地图的地方</a:t>
            </a:r>
          </a:p>
        </p:txBody>
      </p:sp>
      <p:pic>
        <p:nvPicPr>
          <p:cNvPr id="10" name="Picture 9" descr="OpenUAV 仿真场景：城市街区搜索"/>
          <p:cNvPicPr>
            <a:picLocks noChangeAspect="1"/>
          </p:cNvPicPr>
          <p:nvPr/>
        </p:nvPicPr>
        <p:blipFill>
          <a:blip r:embed="rId3"/>
          <a:srcRect l="397" r="397"/>
          <a:stretch>
            <a:fillRect/>
          </a:stretch>
        </p:blipFill>
        <p:spPr>
          <a:xfrm>
            <a:off x="731520" y="1847088"/>
            <a:ext cx="3429000" cy="2304288"/>
          </a:xfrm>
          <a:prstGeom prst="rect">
            <a:avLst/>
          </a:prstGeom>
          <a:ln w="9525">
            <a:solidFill>
              <a:srgbClr val="3A3B36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31520" y="1847088"/>
            <a:ext cx="3429000" cy="2304288"/>
          </a:xfrm>
          <a:prstGeom prst="rect">
            <a:avLst/>
          </a:prstGeom>
          <a:solidFill>
            <a:srgbClr val="0E111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3425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城市街区搜索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0016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楼宇遮挡与动态人流</a:t>
            </a:r>
          </a:p>
        </p:txBody>
      </p:sp>
      <p:pic>
        <p:nvPicPr>
          <p:cNvPr id="14" name="Picture 13" descr="OpenUAV 仿真场景：山地林区巡护"/>
          <p:cNvPicPr>
            <a:picLocks noChangeAspect="1"/>
          </p:cNvPicPr>
          <p:nvPr/>
        </p:nvPicPr>
        <p:blipFill>
          <a:blip r:embed="rId4"/>
          <a:srcRect l="397" r="397"/>
          <a:stretch>
            <a:fillRect/>
          </a:stretch>
        </p:blipFill>
        <p:spPr>
          <a:xfrm>
            <a:off x="4315968" y="1847088"/>
            <a:ext cx="3429000" cy="2304288"/>
          </a:xfrm>
          <a:prstGeom prst="rect">
            <a:avLst/>
          </a:prstGeom>
          <a:ln w="9525">
            <a:solidFill>
              <a:srgbClr val="3A3B3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315968" y="1847088"/>
            <a:ext cx="3429000" cy="2304288"/>
          </a:xfrm>
          <a:prstGeom prst="rect">
            <a:avLst/>
          </a:prstGeom>
          <a:solidFill>
            <a:srgbClr val="0E111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433425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山地林区巡护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700016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无路网、弱信号</a:t>
            </a:r>
          </a:p>
        </p:txBody>
      </p:sp>
      <p:pic>
        <p:nvPicPr>
          <p:cNvPr id="18" name="Picture 17" descr="OpenUAV 仿真场景：灾后区域排查"/>
          <p:cNvPicPr>
            <a:picLocks noChangeAspect="1"/>
          </p:cNvPicPr>
          <p:nvPr/>
        </p:nvPicPr>
        <p:blipFill>
          <a:blip r:embed="rId5"/>
          <a:srcRect l="397" r="397"/>
          <a:stretch>
            <a:fillRect/>
          </a:stretch>
        </p:blipFill>
        <p:spPr>
          <a:xfrm>
            <a:off x="7900416" y="1847088"/>
            <a:ext cx="3429000" cy="2304288"/>
          </a:xfrm>
          <a:prstGeom prst="rect">
            <a:avLst/>
          </a:prstGeom>
          <a:ln w="9525">
            <a:solidFill>
              <a:srgbClr val="3A3B36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7900416" y="1847088"/>
            <a:ext cx="3429000" cy="2304288"/>
          </a:xfrm>
          <a:prstGeom prst="rect">
            <a:avLst/>
          </a:prstGeom>
          <a:solidFill>
            <a:srgbClr val="0E111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416" y="433425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灾后区域排查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4700016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目标不确定、环境变化快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650992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79729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场景均为 OpenUAV 仿真环境；实机试点按项目定制，并受空域法规与现场条件约束。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06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1704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三种合作方式，从评估到落地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平台授权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OpenUAV 仿真平台与 12k 轨迹数据集授权，支持本地部署与二次开发。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370832"/>
            <a:ext cx="3108960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5171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61"/>
                </a:solidFill>
                <a:latin typeface="Noto Sans CJK SC"/>
                <a:ea typeface="Noto Sans CJK SC"/>
                <a:cs typeface="Noto Sans CJK SC"/>
              </a:rPr>
              <a:t>适合：建立自研导航能力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299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04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基准评测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1635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用 UAV-Need-Help 对现有模型做零样本与泛化评测，输出可复现报告。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43400" y="4370832"/>
            <a:ext cx="3108960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43400" y="45171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61"/>
                </a:solidFill>
                <a:latin typeface="Noto Sans CJK SC"/>
                <a:ea typeface="Noto Sans CJK SC"/>
                <a:cs typeface="Noto Sans CJK SC"/>
              </a:rPr>
              <a:t>适合：验证技术路线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0299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C96A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304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联合试点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81635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3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围绕一个真实场景做数据采集、微调与实机验证，2–6 周一个周期。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4370832"/>
            <a:ext cx="3108961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55279" y="45171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61"/>
                </a:solidFill>
                <a:latin typeface="Noto Sans CJK SC"/>
                <a:ea typeface="Noto Sans CJK SC"/>
                <a:cs typeface="Noto Sans CJK SC"/>
              </a:rPr>
              <a:t>适合：快速 PoC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60520" y="1993392"/>
            <a:ext cx="0" cy="301752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1993392"/>
            <a:ext cx="0" cy="301752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所有合作，从一次 </a:t>
            </a:r>
            <a:r>
              <a:rPr sz="1600" b="0">
                <a:solidFill>
                  <a:srgbClr val="C96A3F"/>
                </a:solidFill>
                <a:latin typeface="Noto Sans CJK SC"/>
                <a:ea typeface="Noto Sans CJK SC"/>
                <a:cs typeface="Noto Sans CJK SC"/>
              </a:rPr>
              <a:t>30 分钟的场景评估</a:t>
            </a:r>
            <a:r>
              <a:rPr sz="1600" b="0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开始。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60">
                <a:solidFill>
                  <a:srgbClr val="C96A3F"/>
                </a:solidFill>
                <a:latin typeface="Arial"/>
                <a:ea typeface="Arial"/>
                <a:cs typeface="Arial"/>
              </a:rPr>
              <a:t>07  </a:t>
            </a:r>
            <a:r>
              <a:rPr sz="10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914400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1704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不是演示视频，是可复现的研究底座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12k+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56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6A3F"/>
                </a:solidFill>
                <a:latin typeface="Noto Sans CJK SC"/>
                <a:ea typeface="Noto Sans CJK SC"/>
                <a:cs typeface="Noto Sans CJK SC"/>
              </a:rPr>
              <a:t>真实动力学轨迹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0390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首个真实 UAV VLN 数据集，覆盖连续飞行。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12848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6 DoF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456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6A3F"/>
                </a:solidFill>
                <a:latin typeface="Noto Sans CJK SC"/>
                <a:ea typeface="Noto Sans CJK SC"/>
                <a:cs typeface="Noto Sans CJK SC"/>
              </a:rPr>
              <a:t>连续动作空间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80390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不是离散航点，贴近真实飞行约束与姿态变化。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212848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4F1E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456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6A3F"/>
                </a:solidFill>
                <a:latin typeface="Noto Sans CJK SC"/>
                <a:ea typeface="Noto Sans CJK SC"/>
                <a:cs typeface="Noto Sans CJK SC"/>
              </a:rPr>
              <a:t>评测子集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0390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含未见地图与未见物体，专门检验零样本泛化。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2176272"/>
            <a:ext cx="0" cy="260604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2400" y="2176272"/>
            <a:ext cx="0" cy="260604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" y="513892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3035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平台、数据、基准与方法已在论文中完整披露；评测协议可复现，便于在采购前做独立验证。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167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F6A61"/>
                </a:solidFill>
                <a:latin typeface="Noto Sans CJK SC"/>
                <a:ea typeface="Noto Sans CJK SC"/>
                <a:cs typeface="Noto Sans CJK SC"/>
              </a:rPr>
              <a:t>来源：TravelUAV, 2025（预印本）· 数据集统计与评测协议见论文第 4–5 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A8A399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penUAV 仿真城市街区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im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450">
                <a:solidFill>
                  <a:srgbClr val="F4F1EA"/>
                </a:solidFill>
                <a:latin typeface="Arial"/>
                <a:ea typeface="Arial"/>
                <a:cs typeface="Arial"/>
              </a:rPr>
              <a:t>TRAVELUAV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5303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260">
                <a:solidFill>
                  <a:srgbClr val="A8A399"/>
                </a:solidFill>
                <a:latin typeface="Arial"/>
                <a:ea typeface="Arial"/>
                <a:cs typeface="Arial"/>
              </a:rPr>
              <a:t>10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320">
                <a:solidFill>
                  <a:srgbClr val="C96A3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把您的场景，</a:t>
            </a:r>
          </a:p>
          <a:p>
            <a:pPr algn="l">
              <a:lnSpc>
                <a:spcPct val="116000"/>
              </a:lnSpc>
            </a:pPr>
            <a:r>
              <a:rPr sz="4200" b="1">
                <a:solidFill>
                  <a:srgbClr val="F4F1EA"/>
                </a:solidFill>
                <a:latin typeface="Noto Serif CJK SC"/>
                <a:ea typeface="Noto Serif CJK SC"/>
                <a:cs typeface="Noto Serif CJK SC"/>
              </a:rPr>
              <a:t>交给它试一次。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1868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6A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00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扫码预约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461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选择到展位或线上的评估时段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5876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6A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04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带上场景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8862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一段现场视频或一张区域地图即可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988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6A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805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1EA"/>
                </a:solidFill>
                <a:latin typeface="Noto Sans CJK SC"/>
                <a:ea typeface="Noto Sans CJK SC"/>
                <a:cs typeface="Noto Sans CJK SC"/>
              </a:rPr>
              <a:t>两周试点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5262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输出可量化的搜索成功率对比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138928"/>
            <a:ext cx="6766560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248656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C96A3F"/>
                </a:solidFill>
                <a:latin typeface="Arial"/>
                <a:ea typeface="Arial"/>
                <a:cs typeface="Arial"/>
              </a:rPr>
              <a:t>B-17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39" y="55961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20">
                <a:solidFill>
                  <a:srgbClr val="A8A399"/>
                </a:solidFill>
                <a:latin typeface="Arial"/>
                <a:ea typeface="Arial"/>
                <a:cs typeface="Arial"/>
              </a:rPr>
              <a:t>BOOTH  ·  2026 世界无人机大会  ·  上海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1755648"/>
            <a:ext cx="2487168" cy="2816352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qr_d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1956816"/>
            <a:ext cx="2084831" cy="20848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87968" y="4160520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191C"/>
                </a:solidFill>
                <a:latin typeface="Noto Sans CJK SC"/>
                <a:ea typeface="Noto Sans CJK SC"/>
                <a:cs typeface="Noto Sans CJK SC"/>
              </a:rPr>
              <a:t>扫码预约现场演示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4736592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8A399"/>
                </a:solidFill>
                <a:latin typeface="Noto Sans CJK SC"/>
                <a:ea typeface="Noto Sans CJK SC"/>
                <a:cs typeface="Noto Sans CJK SC"/>
              </a:rPr>
              <a:t>30 分钟评估  ·  两周试点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6327648"/>
            <a:ext cx="10728655" cy="0"/>
          </a:xfrm>
          <a:prstGeom prst="line">
            <a:avLst/>
          </a:prstGeom>
          <a:ln w="9525">
            <a:solidFill>
              <a:srgbClr val="3A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20">
                <a:solidFill>
                  <a:srgbClr val="A8A399"/>
                </a:solidFill>
                <a:latin typeface="Arial"/>
                <a:ea typeface="Arial"/>
                <a:cs typeface="Arial"/>
              </a:rPr>
              <a:t>TRAVELUAV  ·  2026 世界无人机大会  ·  上海</a:t>
            </a:r>
          </a:p>
        </p:txBody>
      </p:sp>
    </p:spTree>
  </p:cSld>
  <p:clrMapOvr>
    <a:masterClrMapping/>
  </p:clrMapOvr>
  <p:transition spd="med" advTm="12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