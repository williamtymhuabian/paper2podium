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SR (%)</c:v>
                </c:pt>
              </c:strCache>
            </c:strRef>
          </c:tx>
          <c:spPr>
            <a:solidFill>
              <a:srgbClr val="0072B2"/>
            </a:solidFill>
          </c:spPr>
          <c:dPt>
            <c:idx val="3"/>
            <c:spPr>
              <a:solidFill>
                <a:srgbClr val="C0392B"/>
              </a:solidFill>
            </c:spPr>
          </c:dPt>
          <c:cat>
            <c:strRef>
              <c:f>Sheet1!$A$2:$A$5</c:f>
              <c:strCache>
                <c:ptCount val="4"/>
                <c:pt idx="0">
                  <c:v>Random</c:v>
                </c:pt>
                <c:pt idx="1">
                  <c:v>Fixed</c:v>
                </c:pt>
                <c:pt idx="2">
                  <c:v>CMA</c:v>
                </c:pt>
                <c:pt idx="3">
                  <c:v>Ours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</c:v>
                </c:pt>
                <c:pt idx="1">
                  <c:v>3.66</c:v>
                </c:pt>
                <c:pt idx="2">
                  <c:v>9.06</c:v>
                </c:pt>
                <c:pt idx="3">
                  <c:v>22.42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SR (%)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Sheet1!$A$2:$A$4</c:f>
              <c:strCache>
                <c:ptCount val="3"/>
                <c:pt idx="0">
                  <c:v>10% 数据</c:v>
                </c:pt>
                <c:pt idx="1">
                  <c:v>50% 数据</c:v>
                </c:pt>
                <c:pt idx="2">
                  <c:v>100% 数据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10.78</c:v>
                </c:pt>
                <c:pt idx="1">
                  <c:v>13.19</c:v>
                </c:pt>
                <c:pt idx="2">
                  <c:v>16.1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各位老师、同学好，今天我给大家分享一篇北航 ColaLab 2024 年的工作 TravelUAV，题目是《面向真实无人机视觉-语言导航：平台、基准与方法》。这篇文章一口气给出了平台、数据集、基准和方法四件套，是无人机 VLN 方向比较系统的工程。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汇报分六部分：先讲动机，再依次介绍 OpenUAV 平台、数据集与基准、导航大模型，然后是实验结果，最后总结。重点会放在方法和实验两块。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机核心是两个失配。第一，运动动力学：地面智能体在水平面移动，离散动作就够；而无人机是六自由度三维机动，俯仰翻滚偏航耦合发生，把连续轨迹硬拆成离散动作会导致飞行不真实。第二，任务复杂度：无人机在开阔户外执行长距离任务，视点剧变、遮挡频发，单靠一段目标描述很难精确搜索。所以作者认为必须重建整个技术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这是与现有 VLN 数据集的对比表。可以看到 R2R、TouchDown 这些地面数据集只有 2 自由度；无人机方向 AVDN、AerialVLN、CityNav 最多 4 自由度，而且运动学一列都是叉——轨迹是改坐标改出来的，不是真实飞控产生的。本文数据集是第一个 6 自由度带真实运动学的，1 万 2 千条轨迹、词表 1 万、平均轨迹 255 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这一页是论文的图 1，左边 OpenUAV 平台：基于 UE4 加 AirSim，提供闭环仿真、并行化、可复现条件、可配置传感器、轨迹回放；右边是 UAV-Need-Help 任务示意，助手会给无人机在线引导。这张图建议大家记住结构，后面会拆开讲。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平台三块能力。环境：22 类高保真场景、89 类物体，支持运行时 API 自动摆放。飞控：AirSim 物理仿真，位姿六元组全记录，人控有遥控器、手动、位置三种接口，传感器覆盖五视角 RGB 加深度、360 度激光雷达。算法：内置闭环仿真接口、DAgger 和回溯策略，8 张 A100 并行能到 16 倍加速、最高 1600 帧。全平台开源。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数据怎么来？五视角拍摄目标，GPT-4 生成描述再人工复核；飞手实飞采集轨迹，飞行中只记状态，传感器数据事后异步补采，这样不打断操作。一共 12,149 条有效轨迹，右侧是统计：轨迹长度、目标距离 50 到 400 米、89 类物体分布和四个数据划分。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UAV-Need-Help 基准把助手指令分三级：L1 全程高频引导，始终把无人机拉回最优路径；L2 只在困难或偏航时纠偏；L3 只在危险时避障。这三级非常贴近真实的人机协作场景。任务定义：输入描述、状态、五视角图像和助手指令，输出六自由度轨迹，降落点距目标 20 米内算成功。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方法框架图。指令和多视角图像分别做 token 化，拼接送进以 Vicuna-7B 为底座的 MLLM；一个可学习的 waypoint 查询 token 从 LLM 里抽取轨迹特征，经 MLP 解出远距目标位姿；然后前视细化解码器结合前视 token 生成精细轨迹序列。检测到目标就触发降落。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分层三步。第一步多模态 token 化：EVA-CLIP 加 Q-former，每个视角 1 个全局加 16 个局部 token。第二步高层解码：waypoint token 出远距目标位姿。第三步细粒度解码：前视 token 拼上目标位姿特征出轨迹序列。训练上还有回溯采样 DAgger：碰撞就回退两帧改走教师轨迹，从失败里挖避障样本。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主结果，Test Seen、L1 助手设定。随机 0.14，固定动作 2.27，经典 CMA 8.37；本文方法 16.10，加回溯 DAgger 后 17.45，SR 相对 CMA 提升 109%；OSR 到了 48.87，说明接近一半任务能途经最优路径。但注意人类是 94.51，差距仍然巨大，这个任务远没有解决。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两张图。左边是未见物体测试集：CMA 只有 9.06，本文 22.42，说明语言理解带来了类别迁移能力。右边数据量消融：10% 数据 10.78，50% 13.19，全量 16.10，还有增长空间。补充一句，未见地图上 SR 只有 4.18，新场景探索是下一个难点。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定性结果。前两行是成功案例：按指令找到车辆和奶牛，第 3 到 5 帧能看到转向机动改变视点。第三行是失败案例，在森林场景撞树了——这也是回溯采样想解决的问题。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总结三点贡献：OpenUAV 平台、1 万 2 千条轨迹的数据集加三级助导基准、以及分层轨迹生成的导航大模型，全部开源。展望：与人类 77 个点的差距、未见场景泛化和真机部署是未来方向。我的汇报到这里，谢谢大家，欢迎提问。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</a:rPr>
              <a:t>组会论文汇报  ·  Vision-Language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4E79"/>
                </a:solidFill>
                <a:latin typeface="微软雅黑"/>
              </a:rPr>
              <a:t>Towards Realistic UAV Vision-Language Navigation:</a:t>
            </a:r>
          </a:p>
          <a:p>
            <a:pPr algn="l">
              <a:lnSpc>
                <a:spcPct val="112000"/>
              </a:lnSpc>
            </a:pPr>
            <a:r>
              <a:rPr sz="3300" b="1">
                <a:solidFill>
                  <a:srgbClr val="1F4E79"/>
                </a:solidFill>
                <a:latin typeface="微软雅黑"/>
              </a:rPr>
              <a:t>Platform, Benchmark, and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微软雅黑"/>
              </a:rPr>
              <a:t>面向真实无人机视觉-语言导航：平台、基准与方法（TravelUAV / OpenUAV）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3977639"/>
            <a:ext cx="201168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420624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7280"/>
                </a:solidFill>
                <a:latin typeface="微软雅黑"/>
              </a:rPr>
              <a:t>论文：</a:t>
            </a:r>
            <a:r>
              <a:rPr sz="1300" b="0">
                <a:solidFill>
                  <a:srgbClr val="6B7280"/>
                </a:solidFill>
                <a:latin typeface="微软雅黑"/>
              </a:rPr>
              <a:t>Xiangyu Wang*, Donglin Yang*, Ziqin Wang*, Hohin Kwan, Jinyu Chen, Wenjun Wu, Hongsheng Li, Yue Liao†, Si Liu†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7280"/>
                </a:solidFill>
                <a:latin typeface="微软雅黑"/>
              </a:rPr>
              <a:t>单位：</a:t>
            </a:r>
            <a:r>
              <a:rPr sz="1300" b="0">
                <a:solidFill>
                  <a:srgbClr val="6B7280"/>
                </a:solidFill>
                <a:latin typeface="微软雅黑"/>
              </a:rPr>
              <a:t>北京航空航天大学人工智能研究院 · CUHK MMLab · CPII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6B7280"/>
                </a:solidFill>
                <a:latin typeface="微软雅黑"/>
              </a:rPr>
              <a:t>出处：</a:t>
            </a:r>
            <a:r>
              <a:rPr sz="1300" b="0">
                <a:solidFill>
                  <a:srgbClr val="6B7280"/>
                </a:solidFill>
                <a:latin typeface="微软雅黑"/>
              </a:rPr>
              <a:t>arXiv:2410.07087 (2024) · 项目主页 prince687028.github.io/OpenUAV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</a:rPr>
              <a:t>汇报人：____　　日期：2026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152704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微软雅黑"/>
              </a:rPr>
              <a:t>研究背景与动机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59" y="159105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</a:rPr>
              <a:t>地面 VLN 设定难以直接迁移到无人机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3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33172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微软雅黑"/>
              </a:rPr>
              <a:t>OpenUAV 仿真平台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2395727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</a:rPr>
              <a:t>逼真环境 × 真实飞控 × 算法支持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18103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136391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微软雅黑"/>
              </a:rPr>
              <a:t>数据集与基准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20039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</a:rPr>
              <a:t>12,149 条 6-DoF 轨迹 + UAV-Need-Help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2277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941063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微软雅黑"/>
              </a:rPr>
              <a:t>UAV 导航大模型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40050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</a:rPr>
              <a:t>MLLM 分层轨迹生成 + 回溯采样 DAgger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274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745736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微软雅黑"/>
              </a:rPr>
              <a:t>实验与结果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480974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</a:rPr>
              <a:t>全面超越基线，与人类差距依然显著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5550407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微软雅黑"/>
              </a:rPr>
              <a:t>结论与展望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56144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/>
              </a:rPr>
              <a:t>贡献总结与未来方向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直接沿用地面 VLN 设定，无法胜任真实无人机导航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Background · 两类智能体的运动学与任务复杂度存在本质差异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40680" cy="3977639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E79"/>
                </a:solidFill>
                <a:latin typeface="微软雅黑"/>
              </a:rPr>
              <a:t>运动动力学失配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550" b="0">
                <a:solidFill>
                  <a:srgbClr val="2B2B2B"/>
                </a:solidFill>
                <a:latin typeface="微软雅黑"/>
              </a:rPr>
              <a:t>地面智能体：水平面移动，离散动作（前进/转向）即可规划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550" b="0">
                <a:solidFill>
                  <a:srgbClr val="2B2B2B"/>
                </a:solidFill>
                <a:latin typeface="微软雅黑"/>
              </a:rPr>
              <a:t>无人机：三维空域 6 自由度机动——俯仰、翻滚、偏航同时发生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550" b="0">
                <a:solidFill>
                  <a:srgbClr val="2B2B2B"/>
                </a:solidFill>
                <a:latin typeface="微软雅黑"/>
              </a:rPr>
              <a:t>连续轨迹难以分解为离散动作 → 固定动作集产生「非真实」导航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1600200"/>
            <a:ext cx="5440680" cy="3977639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E79"/>
                </a:solidFill>
                <a:latin typeface="微软雅黑"/>
              </a:rPr>
              <a:t>任务复杂度失配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60604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550" b="0">
                <a:solidFill>
                  <a:srgbClr val="2B2B2B"/>
                </a:solidFill>
                <a:latin typeface="微软雅黑"/>
              </a:rPr>
              <a:t>无人机多在开阔户外执行长距离、长航时任务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550" b="0">
                <a:solidFill>
                  <a:srgbClr val="2B2B2B"/>
                </a:solidFill>
                <a:latin typeface="微软雅黑"/>
              </a:rPr>
              <a:t>视点高速变化、遮挡频发，仅凭目标描述难以精确搜索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550" b="0">
                <a:solidFill>
                  <a:srgbClr val="2B2B2B"/>
                </a:solidFill>
                <a:latin typeface="微软雅黑"/>
              </a:rPr>
              <a:t>需要环境信息与在线引导的持续支持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微软雅黑"/>
              </a:rPr>
              <a:t>结论：</a:t>
            </a:r>
            <a:r>
              <a:rPr sz="1600" b="1">
                <a:solidFill>
                  <a:srgbClr val="2B2B2B"/>
                </a:solidFill>
                <a:latin typeface="微软雅黑"/>
              </a:rPr>
              <a:t>需要为无人机 VLN 重建平台、数据与方法的整个技术栈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图源/数据：Wang et al., arXiv:2410.07087, Fig.1 与 Sec.1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现有 UAV VLN 数据集均未覆盖真实 6-DoF 飞行动态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Related Work · 与代表性 VLN 数据集对比（Table 1）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167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1051560"/>
                <a:gridCol w="1325880"/>
                <a:gridCol w="1143000"/>
                <a:gridCol w="1325880"/>
                <a:gridCol w="1143000"/>
                <a:gridCol w="1261872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数据集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DoF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运动学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轨迹数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词表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轨迹长(m)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指令长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动作数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R2R (2018)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7,189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3.1K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TouchDown (2019)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9,326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5K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310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AVDN (2022)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6,269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3.3K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AerialVLN (2023)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8,446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4.5K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661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204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CityNav (2024)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32,637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6.6K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545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本文 TravelUAV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12,149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10.8K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104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79"/>
                          </a:solidFill>
                          <a:latin typeface="微软雅黑"/>
                        </a:rPr>
                        <a:t>264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微软雅黑"/>
              </a:rPr>
              <a:t>首个具备真实飞行动力学（6-DoF 运动学 ✓）的无人机 VLN 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数据源：Wang et al., arXiv:2410.07087, Table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OpenUAV 平台：逼真环境、真实飞控与算法支持三位一体</a:t>
            </a:r>
          </a:p>
        </p:txBody>
      </p:sp>
      <p:pic>
        <p:nvPicPr>
          <p:cNvPr id="3" name="Picture 2" descr="fig1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269" y="1234440"/>
            <a:ext cx="9252412" cy="4572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522476" y="5980176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图 1｜平台与基准总览：左为 OpenUAV 平台（闭环仿真、并行化、可复现条件、传感器配置、轨迹回放），右为 UAV-Need-Help 助导式目标搜索任务。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图源：arXiv:2410.07087, Fig.1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OpenUAV 平台：UE4 + AirSim，22 场景全流程开放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84448" cy="402336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184708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</a:rPr>
              <a:t>逼真环境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2468880"/>
            <a:ext cx="3063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UE4 高保真渲染，22 类城市场景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89 类可放置物体资产，运行时 API 自动摆放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动态环境：植被摆动、光照变化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554480"/>
            <a:ext cx="3584448" cy="402336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4708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</a:rPr>
              <a:t>真实飞控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2" y="2468880"/>
            <a:ext cx="3063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AirSim 物理仿真，6-DoF 位姿 P={x,y,z,θ,φ,ψ}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遥控器（PX4）/ 手动 / 位置模式三种人控接口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RGB+深度×5 视角、360° LiDAR、IMU、GPS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554480"/>
            <a:ext cx="3584448" cy="402336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84708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</a:rPr>
              <a:t>算法支持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468880"/>
            <a:ext cx="3063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闭环仿真：模型输出→飞控→环境反馈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DAgger 数据聚合 + 回溯策略内置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400" b="0">
                <a:solidFill>
                  <a:srgbClr val="2B2B2B"/>
                </a:solidFill>
                <a:latin typeface="微软雅黑"/>
              </a:rPr>
              <a:t>8×A100 并行 16× 加速，160–1600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微软雅黑"/>
              </a:rPr>
              <a:t>全平台开源</a:t>
            </a:r>
            <a:r>
              <a:rPr sz="1600" b="0">
                <a:solidFill>
                  <a:srgbClr val="2B2B2B"/>
                </a:solidFill>
                <a:latin typeface="微软雅黑"/>
              </a:rPr>
              <a:t>：环境、飞控、采集、训练、评测一体化，支撑连续轨迹 VLN 研究全流程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内容源：arXiv:2410.07087, Sec.3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12,149 条 6-DoF 真实轨迹：GPT-4 生成描述 + 人工驾机采集</a:t>
            </a:r>
          </a:p>
        </p:txBody>
      </p:sp>
      <p:pic>
        <p:nvPicPr>
          <p:cNvPr id="3" name="Picture 2" descr="fig2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629" y="1234440"/>
            <a:ext cx="8365692" cy="43434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522476" y="5751576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图 2｜数据构建与统计：五视角拍摄→GPT-4 生成目标描述→人工复核；飞手实时驾机、状态等间隔记录、传感器异步补采；右侧为轨迹长度/目标距离/物体类别/数据划分分布。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图源：arXiv:2410.07087, Fig.2；划分：Train 9,152 / Test Seen 1,410 / Unseen Map 958 / Unseen Object 629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UAV-Need-Help：三级助导机制适配真实搜救场景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Benchmark · 助手依据场景提供不同粒度的在线引导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微软雅黑"/>
              </a:rPr>
              <a:t>L1 全程引导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2B2B2B"/>
                </a:solidFill>
                <a:latin typeface="微软雅黑"/>
              </a:rPr>
              <a:t>持续计算 UAV 与最优路径最近点，高频给出巡航/转向/降落指令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168249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</a:rPr>
              <a:t>贴近真实地面站协作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87168"/>
            <a:ext cx="1109167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7004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微软雅黑"/>
              </a:rPr>
              <a:t>L2 纠偏引导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7004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2B2B2B"/>
                </a:solidFill>
                <a:latin typeface="微软雅黑"/>
              </a:rPr>
              <a:t>仅当深度图判定碰撞风险或偏离路径时介入，低频纠正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70662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</a:rPr>
              <a:t>模拟远程监督者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511296"/>
            <a:ext cx="1109167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69417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微软雅黑"/>
              </a:rPr>
              <a:t>L3 避障引导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94176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2B2B2B"/>
                </a:solidFill>
                <a:latin typeface="微软雅黑"/>
              </a:rPr>
              <a:t>仅在危险临近障碍时发出避障指令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7307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/>
              </a:rPr>
              <a:t>最大 autonomy，最难设定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535424"/>
            <a:ext cx="1109167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B2B2B"/>
                </a:solidFill>
                <a:latin typeface="微软雅黑"/>
              </a:rPr>
              <a:t>任务形式化：</a:t>
            </a:r>
            <a:r>
              <a:rPr sz="1600" b="0">
                <a:solidFill>
                  <a:srgbClr val="2B2B2B"/>
                </a:solidFill>
                <a:latin typeface="微软雅黑"/>
              </a:rPr>
              <a:t>每回合输入 {目标描述 I, 状态 S, 五视角 RGB R 与深度 D, 助手指令 I′} → 模型输出 6-DoF 轨迹序列；降落点距目标 </a:t>
            </a:r>
            <a:r>
              <a:rPr sz="1600" b="1">
                <a:solidFill>
                  <a:srgbClr val="C0392B"/>
                </a:solidFill>
                <a:latin typeface="微软雅黑"/>
              </a:rPr>
              <a:t>20 米内</a:t>
            </a:r>
            <a:r>
              <a:rPr sz="1600" b="0">
                <a:solidFill>
                  <a:srgbClr val="2B2B2B"/>
                </a:solidFill>
                <a:latin typeface="微软雅黑"/>
              </a:rPr>
              <a:t>记为成功。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内容源：arXiv:2410.07087, Sec.5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UAV 导航大模型：以可学习查询驱动分层轨迹生成</a:t>
            </a:r>
          </a:p>
        </p:txBody>
      </p:sp>
      <p:pic>
        <p:nvPicPr>
          <p:cNvPr id="3" name="Picture 2" descr="fig3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5" y="1188720"/>
            <a:ext cx="10424160" cy="4018039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522476" y="5353063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图 3｜左：三级助手机制；右：导航 LLM——指令与多视角图像编码进 MLLM（Vicuna-7B），waypoint 查询 token 提取特征预测远距目标位姿，再由前视细化解码器生成精细轨迹。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图源：arXiv:2410.07087, Fig.3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分层解码：先定远距目标位姿，再生成精细轨迹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584448" cy="324612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8745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72B2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</a:rPr>
              <a:t>多模态 tokenization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07792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350" b="0">
                <a:solidFill>
                  <a:srgbClr val="2B2B2B"/>
                </a:solidFill>
                <a:latin typeface="微软雅黑"/>
              </a:rPr>
              <a:t>EVA-CLIP + Q-former：每视角 1 全局 + 16 局部 token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350" b="0">
                <a:solidFill>
                  <a:srgbClr val="2B2B2B"/>
                </a:solidFill>
                <a:latin typeface="微软雅黑"/>
              </a:rPr>
              <a:t>拼接 &lt;T_img, T_task, T_instr&gt; 输入 Vicuna-7B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7952" y="301752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06824" y="1600200"/>
            <a:ext cx="3584448" cy="324612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8745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72B2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</a:rPr>
              <a:t>高层轨迹解码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907792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350" b="0">
                <a:solidFill>
                  <a:srgbClr val="2B2B2B"/>
                </a:solidFill>
                <a:latin typeface="微软雅黑"/>
              </a:rPr>
              <a:t>可学习 waypoint token T_wp 经 LLM 提取轨迹特征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350" b="0">
                <a:solidFill>
                  <a:srgbClr val="2B2B2B"/>
                </a:solidFill>
                <a:latin typeface="微软雅黑"/>
              </a:rPr>
              <a:t>MLP 解码下一目标位姿 P_target（远距离规划）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46136" y="3017520"/>
            <a:ext cx="256032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84448" cy="324612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8745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72B2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</a:rPr>
              <a:t>细粒度路径解码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907792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350" b="0">
                <a:solidFill>
                  <a:srgbClr val="2B2B2B"/>
                </a:solidFill>
                <a:latin typeface="微软雅黑"/>
              </a:rPr>
              <a:t>前视 token + 目标位姿特征对齐 → MLP 输出位姿序列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</a:rPr>
              <a:t>• </a:t>
            </a:r>
            <a:r>
              <a:rPr sz="1350" b="0">
                <a:solidFill>
                  <a:srgbClr val="2B2B2B"/>
                </a:solidFill>
                <a:latin typeface="微软雅黑"/>
              </a:rPr>
              <a:t>Grounding DINO 检出目标即触发降落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B2B2B"/>
                </a:solidFill>
                <a:latin typeface="微软雅黑"/>
              </a:rPr>
              <a:t>训练增强：</a:t>
            </a:r>
            <a:r>
              <a:rPr sz="1600" b="0">
                <a:solidFill>
                  <a:srgbClr val="2B2B2B"/>
                </a:solidFill>
                <a:latin typeface="微软雅黑"/>
              </a:rPr>
              <a:t>回溯采样 DAgger——模型输出致碰撞时回退两帧并改用教师轨迹，从失败中采集避障样本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内容源：arXiv:2410.07087, Sec.6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全部指标超越基线：SR 较 CMA 平均提升 5 个百分点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Experiments · Test Seen，L1 助手（Table 2，Full 口径）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6949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方法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NE (m) ↓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SR (%) ↑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OSR (%) ↑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SPL (%) ↑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Random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222.20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0.14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0.21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0.07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Fixed Action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188.61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2.27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8.16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1.40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CMA (LSTM)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135.73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8.37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18.72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7.90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Ours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106.28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16.10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44.26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  <a:latin typeface="微软雅黑"/>
                        </a:rPr>
                        <a:t>14.30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Ours + 回溯DA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98.66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17.45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48.87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15.76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Human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14.15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94.51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94.51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微软雅黑"/>
                        </a:rPr>
                        <a:t>77.84</a:t>
                      </a:r>
                    </a:p>
                  </a:txBody>
                  <a:tcPr marL="54864" marR="54864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737360"/>
            <a:ext cx="374903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C0392B"/>
                </a:solidFill>
                <a:latin typeface="微软雅黑"/>
              </a:rPr>
              <a:t>+109%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SR 相对 CMA 提升（8.37→17.45）</a:t>
            </a: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2B2B2B"/>
                </a:solidFill>
                <a:latin typeface="微软雅黑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1F4E79"/>
                </a:solidFill>
                <a:latin typeface="微软雅黑"/>
              </a:rPr>
              <a:t>3.4×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OSR 提升（18.72→48.87）：接近半数任务可途经最优路径</a:t>
            </a: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2B2B2B"/>
                </a:solidFill>
                <a:latin typeface="微软雅黑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2B2B2B"/>
                </a:solidFill>
                <a:latin typeface="微软雅黑"/>
              </a:rPr>
              <a:t>差距仍大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人类 SR 94.51 vs 模型 17.45——任务远未解决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数据源：arXiv:2410.07087, Table 2；NE=终点距目标平均距离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未见物体上泛化最优：SR 22.4%，数据越多性能越强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691640"/>
          <a:ext cx="53949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5778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微软雅黑"/>
              </a:rPr>
              <a:t>Test Unseen Object（L1 助手）SR 对比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1691640"/>
          <a:ext cx="52120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55778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微软雅黑"/>
              </a:rPr>
              <a:t>训练数据量消融（Test Seen, L1, SR%）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微软雅黑"/>
              </a:rPr>
              <a:t>Unseen Map 上 SR 仅 4.18%</a:t>
            </a:r>
            <a:r>
              <a:rPr sz="1500" b="0">
                <a:solidFill>
                  <a:srgbClr val="2B2B2B"/>
                </a:solidFill>
                <a:latin typeface="微软雅黑"/>
              </a:rPr>
              <a:t>：未见城市场景仍是核心挑战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数据源：arXiv:2410.07087, Table 3 / Table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成功案例遵循指令完成搜索；失败多源于复杂场景碰撞</a:t>
            </a:r>
          </a:p>
        </p:txBody>
      </p:sp>
      <p:pic>
        <p:nvPicPr>
          <p:cNvPr id="3" name="Picture 2" descr="fig4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6" y="1280160"/>
            <a:ext cx="9692639" cy="4162939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522476" y="5589403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图 4｜前两行为成功案例：无人机依指令定位车辆与奶牛，第 3–5 帧可见转向机动改变视点；第三行为失败案例：森林场景中与树木碰撞。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/>
              </a:rPr>
              <a:t>图源：arXiv:2410.07087, Fig.4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/>
              </a:rPr>
              <a:t>结论：平台、基准、方法三件套重塑真实无人机 VLN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15819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微软雅黑"/>
              </a:rPr>
              <a:t>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609344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2B2B2B"/>
                </a:solidFill>
                <a:latin typeface="微软雅黑"/>
              </a:rPr>
              <a:t>OpenUAV：首个面向连续轨迹无人机 VLN 的全开源仿真平台（UE4+AirSim，22 场景）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31720"/>
            <a:ext cx="1109167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5146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420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微软雅黑"/>
              </a:rPr>
              <a:t>数据与基准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9464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2B2B2B"/>
                </a:solidFill>
                <a:latin typeface="微软雅黑"/>
              </a:rPr>
              <a:t>12,149 条 6-DoF 轨迹数据集 + UAV-Need-Help 三级助导基准，均开源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91840"/>
            <a:ext cx="1109167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7472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5021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微软雅黑"/>
              </a:rPr>
              <a:t>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29584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2B2B2B"/>
                </a:solidFill>
                <a:latin typeface="微软雅黑"/>
              </a:rPr>
              <a:t>UAV 导航大模型：分层轨迹生成 + 回溯采样 DAgger，SR 较 CMA 平均 +5pt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251959"/>
            <a:ext cx="1109167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617720"/>
            <a:ext cx="110916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B2B2B"/>
                </a:solidFill>
                <a:latin typeface="微软雅黑"/>
              </a:rPr>
              <a:t>不足与展望：</a:t>
            </a:r>
            <a:r>
              <a:rPr sz="1500" b="0">
                <a:solidFill>
                  <a:srgbClr val="2B2B2B"/>
                </a:solidFill>
                <a:latin typeface="微软雅黑"/>
              </a:rPr>
              <a:t>模型与人类操作员仍有 77pt SR 差距；未见场景泛化（Unseen Map SR 4.18%）与真实无人机部署是下一步核心方向。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/>
              </a:rPr>
              <a:t>谢谢大家，敬请批评指正 ·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